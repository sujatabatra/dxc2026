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9" r:id="rId20"/>
    <p:sldId id="280" r:id="rId21"/>
    <p:sldId id="281" r:id="rId22"/>
    <p:sldId id="282" r:id="rId23"/>
    <p:sldId id="284" r:id="rId24"/>
    <p:sldId id="283" r:id="rId25"/>
    <p:sldId id="273" r:id="rId26"/>
    <p:sldId id="274" r:id="rId27"/>
    <p:sldId id="275" r:id="rId28"/>
    <p:sldId id="276" r:id="rId29"/>
    <p:sldId id="277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26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430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762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0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566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3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88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04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59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147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24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4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800" kern="1200" cap="all" spc="200" baseline="0" dirty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Spring Boot Advanced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9546" y="2291262"/>
            <a:ext cx="6584634" cy="2879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rgbClr val="404040"/>
              </a:solidFill>
            </a:endParaRPr>
          </a:p>
          <a:p>
            <a:pPr marL="285750" indent="-28575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04040"/>
                </a:solidFill>
              </a:rPr>
              <a:t>Optimistic Locking</a:t>
            </a:r>
          </a:p>
          <a:p>
            <a:pPr marL="285750" indent="-28575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04040"/>
                </a:solidFill>
              </a:rPr>
              <a:t>Pessimistic Locking</a:t>
            </a:r>
          </a:p>
          <a:p>
            <a:pPr marL="285750" indent="-28575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04040"/>
                </a:solidFill>
              </a:rPr>
              <a:t>Batch Processing</a:t>
            </a:r>
          </a:p>
          <a:p>
            <a:pPr marL="285750" indent="-28575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04040"/>
                </a:solidFill>
              </a:rPr>
              <a:t>Handling Large Datasets</a:t>
            </a:r>
          </a:p>
          <a:p>
            <a:pPr marL="285750" indent="-28575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04040"/>
                </a:solidFill>
              </a:rPr>
              <a:t>Flyway / Liquibase</a:t>
            </a:r>
          </a:p>
          <a:p>
            <a:pPr marL="285750" indent="-28575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04040"/>
                </a:solidFill>
              </a:rPr>
              <a:t>Performance Tuning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Concurrency Management with Locking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Processing Large Volumes of Data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Database Migration Tools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Performance Tuning Techniques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Spring Boot and JPA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Optimistic Locking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Used when conflicts between transactions are rare.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No database row lock is acquired.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Each row contains a version column.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Version is checked during update operation.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Ideal for read-heavy systems such as e-commerce and HR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Optimistic Locking -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Add @Version field to the entity.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Hibernate automatically increments version after successful update.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If version changes, OptimisticLockException is thrown.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Transaction is rolled back to prevent lost updates.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Requires retry mechanism in business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Optimistic Locking - Example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User A and User B load Employee record version 1.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User A updates salary and commits; version becomes 2.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User B tries to update same record with version 1.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Hibernate detects version mismatch.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Update fails and user must reload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Pessimistic Locking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Database row is locked immediately.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Prevents other transactions from modifying the same data.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Suitable for banking and inventory systems.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Provides stronger consistency than optimistic locking.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May reduce application throughput.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Pessimistic Locking -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IN" sz="2000">
                <a:solidFill>
                  <a:srgbClr val="404040"/>
                </a:solidFill>
              </a:rPr>
              <a:t>PESSIMISTIC_READ – prevents updates while allowing reads.</a:t>
            </a:r>
          </a:p>
          <a:p>
            <a:pPr>
              <a:defRPr sz="2000"/>
            </a:pPr>
            <a:r>
              <a:rPr lang="en-IN" sz="2000">
                <a:solidFill>
                  <a:srgbClr val="404040"/>
                </a:solidFill>
              </a:rPr>
              <a:t>PESSIMISTIC_WRITE – exclusive lock for updates.</a:t>
            </a:r>
          </a:p>
          <a:p>
            <a:pPr>
              <a:defRPr sz="2000"/>
            </a:pPr>
            <a:r>
              <a:rPr lang="en-IN" sz="2000">
                <a:solidFill>
                  <a:srgbClr val="404040"/>
                </a:solidFill>
              </a:rPr>
              <a:t>PESSIMISTIC_FORCE_INCREMENT – increments version and locks row.</a:t>
            </a:r>
          </a:p>
          <a:p>
            <a:pPr>
              <a:defRPr sz="2000"/>
            </a:pPr>
            <a:r>
              <a:rPr lang="en-IN" sz="2000">
                <a:solidFill>
                  <a:srgbClr val="404040"/>
                </a:solidFill>
              </a:rPr>
              <a:t>Implemented using @Lock annotation or EntityManager.</a:t>
            </a:r>
          </a:p>
          <a:p>
            <a:pPr>
              <a:defRPr sz="2000"/>
            </a:pPr>
            <a:r>
              <a:rPr lang="en-IN" sz="2000">
                <a:solidFill>
                  <a:srgbClr val="404040"/>
                </a:solidFill>
              </a:rPr>
              <a:t>Database executes SELECT ... FOR UPDATE.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Optimistic vs Pessimistic 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IN" sz="2000">
                <a:solidFill>
                  <a:srgbClr val="404040"/>
                </a:solidFill>
              </a:rPr>
              <a:t>Optimistic: Better performance, lower contention.</a:t>
            </a:r>
          </a:p>
          <a:p>
            <a:pPr>
              <a:defRPr sz="2000"/>
            </a:pPr>
            <a:r>
              <a:rPr lang="en-IN" sz="2000">
                <a:solidFill>
                  <a:srgbClr val="404040"/>
                </a:solidFill>
              </a:rPr>
              <a:t>Pessimistic: Better consistency for highly contested data.</a:t>
            </a:r>
          </a:p>
          <a:p>
            <a:pPr>
              <a:defRPr sz="2000"/>
            </a:pPr>
            <a:r>
              <a:rPr lang="en-IN" sz="2000">
                <a:solidFill>
                  <a:srgbClr val="404040"/>
                </a:solidFill>
              </a:rPr>
              <a:t>Optimistic uses version column.</a:t>
            </a:r>
          </a:p>
          <a:p>
            <a:pPr>
              <a:defRPr sz="2000"/>
            </a:pPr>
            <a:r>
              <a:rPr lang="en-IN" sz="2000">
                <a:solidFill>
                  <a:srgbClr val="404040"/>
                </a:solidFill>
              </a:rPr>
              <a:t>Pessimistic uses database locks.</a:t>
            </a:r>
          </a:p>
          <a:p>
            <a:pPr>
              <a:defRPr sz="2000"/>
            </a:pPr>
            <a:r>
              <a:rPr lang="en-IN" sz="2000">
                <a:solidFill>
                  <a:srgbClr val="404040"/>
                </a:solidFill>
              </a:rPr>
              <a:t>Choice depends on business requirements and concurrency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Batch Processing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Processes large numbers of records efficiently.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Reduces database round trips.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Improves throughput and memory usage.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Used for payroll, imports, reports and notifications.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Spring Batch is the preferred framework.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Batch Processing - Spring Batch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Job contains one or more Steps.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Step contains Reader, Processor and Writer.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Reader fetches data.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Processor transforms data.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Writer persists results in chunks.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Batch Processing - JPA and Hibernate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Configure hibernate.jdbc.batch_size.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Use saveAll() for bulk persistence.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Call EntityManager.flush() and clear() periodically.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Process records in chunks of 100–1000.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Avoid loading entire dataset into memory.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Handling Large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Use pagination with Pageable and PageRequest.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Use projections to fetch only required columns.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Use streaming queries for sequential processing.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Implement chunk processing.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Add database indexes for frequently searched columns.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Pagination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Page&lt;Employee&gt; page = repository.findAll(PageRequest.of(0,20));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Fetches only 20 records at a time.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Reduces memory consumption.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Improves API response times.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Suitable for dashboards and reporting screens.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Database Migration - Why Needed?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IN" sz="2000">
                <a:solidFill>
                  <a:srgbClr val="404040"/>
                </a:solidFill>
              </a:rPr>
              <a:t>Keeps database schema synchronized across environments.</a:t>
            </a:r>
          </a:p>
          <a:p>
            <a:pPr>
              <a:defRPr sz="2000"/>
            </a:pPr>
            <a:r>
              <a:rPr lang="en-IN" sz="2000">
                <a:solidFill>
                  <a:srgbClr val="404040"/>
                </a:solidFill>
              </a:rPr>
              <a:t>Tracks every schema change.</a:t>
            </a:r>
          </a:p>
          <a:p>
            <a:pPr>
              <a:defRPr sz="2000"/>
            </a:pPr>
            <a:r>
              <a:rPr lang="en-IN" sz="2000">
                <a:solidFill>
                  <a:srgbClr val="404040"/>
                </a:solidFill>
              </a:rPr>
              <a:t>Supports version control and CI/CD pipelines.</a:t>
            </a:r>
          </a:p>
          <a:p>
            <a:pPr>
              <a:defRPr sz="2000"/>
            </a:pPr>
            <a:r>
              <a:rPr lang="en-IN" sz="2000">
                <a:solidFill>
                  <a:srgbClr val="404040"/>
                </a:solidFill>
              </a:rPr>
              <a:t>Eliminates manual database scripts.</a:t>
            </a:r>
          </a:p>
          <a:p>
            <a:pPr>
              <a:defRPr sz="2000"/>
            </a:pPr>
            <a:r>
              <a:rPr lang="en-IN" sz="2000">
                <a:solidFill>
                  <a:srgbClr val="404040"/>
                </a:solidFill>
              </a:rPr>
              <a:t>Ensures repeatable deployments.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IN" dirty="0"/>
              <a:t>Introduction to Flyway &amp; Liquibase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404040"/>
                </a:solidFill>
              </a:rPr>
              <a:t>When applications grow, the database schema also changes frequently:</a:t>
            </a:r>
          </a:p>
          <a:p>
            <a:r>
              <a:rPr lang="en-IN">
                <a:solidFill>
                  <a:srgbClr val="404040"/>
                </a:solidFill>
              </a:rPr>
              <a:t>New tables are added. </a:t>
            </a:r>
          </a:p>
          <a:p>
            <a:r>
              <a:rPr lang="en-IN">
                <a:solidFill>
                  <a:srgbClr val="404040"/>
                </a:solidFill>
              </a:rPr>
              <a:t>Existing columns are modified. </a:t>
            </a:r>
          </a:p>
          <a:p>
            <a:r>
              <a:rPr lang="en-IN">
                <a:solidFill>
                  <a:srgbClr val="404040"/>
                </a:solidFill>
              </a:rPr>
              <a:t>Constraints and indexes are created. </a:t>
            </a:r>
          </a:p>
          <a:p>
            <a:r>
              <a:rPr lang="en-IN">
                <a:solidFill>
                  <a:srgbClr val="404040"/>
                </a:solidFill>
              </a:rPr>
              <a:t>Seed data is inserted. </a:t>
            </a:r>
          </a:p>
          <a:p>
            <a:r>
              <a:rPr lang="en-IN">
                <a:solidFill>
                  <a:srgbClr val="404040"/>
                </a:solidFill>
              </a:rPr>
              <a:t>Managing these changes manually becomes difficult.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IN" dirty="0"/>
              <a:t>Example Problem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404040"/>
                </a:solidFill>
              </a:rPr>
              <a:t>Developer A adds an EMPLOYEE table.</a:t>
            </a:r>
          </a:p>
          <a:p>
            <a:r>
              <a:rPr lang="en-US">
                <a:solidFill>
                  <a:srgbClr val="404040"/>
                </a:solidFill>
              </a:rPr>
              <a:t>Developer B adds a PAYROLL table.</a:t>
            </a:r>
          </a:p>
          <a:p>
            <a:r>
              <a:rPr lang="en-US">
                <a:solidFill>
                  <a:srgbClr val="404040"/>
                </a:solidFill>
              </a:rPr>
              <a:t>Production database may miss one of these changes.</a:t>
            </a:r>
          </a:p>
          <a:p>
            <a:r>
              <a:rPr lang="en-US">
                <a:solidFill>
                  <a:srgbClr val="404040"/>
                </a:solidFill>
              </a:rPr>
              <a:t>Result:</a:t>
            </a:r>
          </a:p>
          <a:p>
            <a:r>
              <a:rPr lang="en-US">
                <a:solidFill>
                  <a:srgbClr val="404040"/>
                </a:solidFill>
              </a:rPr>
              <a:t>Application errors </a:t>
            </a:r>
          </a:p>
          <a:p>
            <a:r>
              <a:rPr lang="en-US">
                <a:solidFill>
                  <a:srgbClr val="404040"/>
                </a:solidFill>
              </a:rPr>
              <a:t>Inconsistent databases </a:t>
            </a:r>
          </a:p>
          <a:p>
            <a:r>
              <a:rPr lang="en-US">
                <a:solidFill>
                  <a:srgbClr val="404040"/>
                </a:solidFill>
              </a:rPr>
              <a:t>Deployment failures </a:t>
            </a:r>
          </a:p>
          <a:p>
            <a:pPr>
              <a:defRPr sz="2000"/>
            </a:pPr>
            <a:endParaRPr lang="en-US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IN" dirty="0"/>
              <a:t>To solve this problem, we use: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404040"/>
                </a:solidFill>
              </a:rPr>
              <a:t>Flyway</a:t>
            </a:r>
          </a:p>
          <a:p>
            <a:pPr lvl="1"/>
            <a:r>
              <a:rPr lang="en-IN">
                <a:solidFill>
                  <a:srgbClr val="404040"/>
                </a:solidFill>
              </a:rPr>
              <a:t>A simple SQL-based database migration tool.</a:t>
            </a:r>
          </a:p>
          <a:p>
            <a:r>
              <a:rPr lang="en-IN" b="1">
                <a:solidFill>
                  <a:srgbClr val="404040"/>
                </a:solidFill>
              </a:rPr>
              <a:t>Liquibase</a:t>
            </a:r>
          </a:p>
          <a:p>
            <a:pPr lvl="1"/>
            <a:r>
              <a:rPr lang="en-IN">
                <a:solidFill>
                  <a:srgbClr val="404040"/>
                </a:solidFill>
              </a:rPr>
              <a:t>An advanced database change management tool supporting rollback and multiple changelog formats.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AEBA7-E56C-0F33-46B0-B16F2F766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07" y="1444753"/>
            <a:ext cx="3284579" cy="3968496"/>
          </a:xfrm>
          <a:prstGeom prst="rect">
            <a:avLst/>
          </a:prstGeom>
          <a:solidFill>
            <a:schemeClr val="accent2"/>
          </a:solidFill>
          <a:ln w="190500" cap="sq" cmpd="thinThick">
            <a:solidFill>
              <a:schemeClr val="accent2"/>
            </a:solidFill>
            <a:miter lim="800000"/>
          </a:ln>
        </p:spPr>
        <p:txBody>
          <a:bodyPr wrap="square" anchor="ctr">
            <a:normAutofit/>
          </a:bodyPr>
          <a:lstStyle/>
          <a:p>
            <a:r>
              <a:rPr lang="en-IN" sz="2800">
                <a:solidFill>
                  <a:srgbClr val="FFFFFF"/>
                </a:solidFill>
              </a:rPr>
              <a:t>Why Database Versioning is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6698A-6410-40A8-5AFF-26849A601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9" y="1444752"/>
            <a:ext cx="3612294" cy="396849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  <a:t>Database versioning means maintaining database changes exactly like source code.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300" b="1">
                <a:solidFill>
                  <a:schemeClr val="tx1">
                    <a:lumMod val="75000"/>
                    <a:lumOff val="25000"/>
                  </a:schemeClr>
                </a:solidFill>
              </a:rPr>
              <a:t>Without Versioning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  <a:t>Developer → SQL File</a:t>
            </a:r>
            <a:b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  <a:t>DBA → Runs manually</a:t>
            </a:r>
            <a:b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  <a:t>QA → Different database</a:t>
            </a:r>
            <a:b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  <a:t>Production → Different database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  <a:t>Problems: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  <a:t>Missing scripts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  <a:t>Duplicate execution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  <a:t>Wrong execution order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  <a:t>Difficult rollback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  <a:t>No audit trail 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IN" sz="13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IN" sz="13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</a:pPr>
            <a:endParaRPr lang="en-IN" sz="13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728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BCCBF-4442-0224-4D0C-7DAE17926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07" y="1444753"/>
            <a:ext cx="3284579" cy="3968496"/>
          </a:xfrm>
          <a:prstGeom prst="rect">
            <a:avLst/>
          </a:prstGeom>
          <a:solidFill>
            <a:schemeClr val="accent2"/>
          </a:solidFill>
          <a:ln w="190500" cap="sq" cmpd="thinThick">
            <a:solidFill>
              <a:schemeClr val="accent2"/>
            </a:solidFill>
            <a:miter lim="800000"/>
          </a:ln>
        </p:spPr>
        <p:txBody>
          <a:bodyPr wrap="square" anchor="ctr">
            <a:normAutofit/>
          </a:bodyPr>
          <a:lstStyle/>
          <a:p>
            <a:r>
              <a:rPr lang="en-IN" sz="2800">
                <a:solidFill>
                  <a:srgbClr val="FFFFFF"/>
                </a:solidFill>
              </a:rPr>
              <a:t>Why Database Versioning is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AEDE2-1BBC-B006-C593-D94982043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9" y="1444752"/>
            <a:ext cx="3612294" cy="396849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000" b="1">
                <a:solidFill>
                  <a:schemeClr val="tx1">
                    <a:lumMod val="75000"/>
                    <a:lumOff val="25000"/>
                  </a:schemeClr>
                </a:solidFill>
              </a:rPr>
              <a:t>With Versioning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>
                <a:solidFill>
                  <a:schemeClr val="tx1">
                    <a:lumMod val="75000"/>
                    <a:lumOff val="25000"/>
                  </a:schemeClr>
                </a:solidFill>
              </a:rPr>
              <a:t>Version 1 → Create Employee</a:t>
            </a:r>
            <a:br>
              <a:rPr lang="en-IN" sz="10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1000">
                <a:solidFill>
                  <a:schemeClr val="tx1">
                    <a:lumMod val="75000"/>
                    <a:lumOff val="25000"/>
                  </a:schemeClr>
                </a:solidFill>
              </a:rPr>
              <a:t>Version 2 → Create Payroll</a:t>
            </a:r>
            <a:br>
              <a:rPr lang="en-IN" sz="10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1000">
                <a:solidFill>
                  <a:schemeClr val="tx1">
                    <a:lumMod val="75000"/>
                    <a:lumOff val="25000"/>
                  </a:schemeClr>
                </a:solidFill>
              </a:rPr>
              <a:t>Version 3 → Create Project</a:t>
            </a:r>
            <a:br>
              <a:rPr lang="en-IN" sz="10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1000">
                <a:solidFill>
                  <a:schemeClr val="tx1">
                    <a:lumMod val="75000"/>
                    <a:lumOff val="25000"/>
                  </a:schemeClr>
                </a:solidFill>
              </a:rPr>
              <a:t>Version 4 → Insert Data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>
                <a:solidFill>
                  <a:schemeClr val="tx1">
                    <a:lumMod val="75000"/>
                    <a:lumOff val="25000"/>
                  </a:schemeClr>
                </a:solidFill>
              </a:rPr>
              <a:t>Benefits: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Consistency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>
                <a:solidFill>
                  <a:schemeClr val="tx1">
                    <a:lumMod val="75000"/>
                    <a:lumOff val="25000"/>
                  </a:schemeClr>
                </a:solidFill>
              </a:rPr>
              <a:t>All environments have the same schema.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 b="1">
                <a:solidFill>
                  <a:schemeClr val="tx1">
                    <a:lumMod val="75000"/>
                    <a:lumOff val="25000"/>
                  </a:schemeClr>
                </a:solidFill>
              </a:rPr>
              <a:t>Automation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>
                <a:solidFill>
                  <a:schemeClr val="tx1">
                    <a:lumMod val="75000"/>
                    <a:lumOff val="25000"/>
                  </a:schemeClr>
                </a:solidFill>
              </a:rPr>
              <a:t>No manual SQL execution.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 b="1">
                <a:solidFill>
                  <a:schemeClr val="tx1">
                    <a:lumMod val="75000"/>
                    <a:lumOff val="25000"/>
                  </a:schemeClr>
                </a:solidFill>
              </a:rPr>
              <a:t>Auditability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>
                <a:solidFill>
                  <a:schemeClr val="tx1">
                    <a:lumMod val="75000"/>
                    <a:lumOff val="25000"/>
                  </a:schemeClr>
                </a:solidFill>
              </a:rPr>
              <a:t>Know who changed what and when.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 b="1">
                <a:solidFill>
                  <a:schemeClr val="tx1">
                    <a:lumMod val="75000"/>
                    <a:lumOff val="25000"/>
                  </a:schemeClr>
                </a:solidFill>
              </a:rPr>
              <a:t>Rollback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>
                <a:solidFill>
                  <a:schemeClr val="tx1">
                    <a:lumMod val="75000"/>
                    <a:lumOff val="25000"/>
                  </a:schemeClr>
                </a:solidFill>
              </a:rPr>
              <a:t>Possible in Liquibase.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 b="1">
                <a:solidFill>
                  <a:schemeClr val="tx1">
                    <a:lumMod val="75000"/>
                    <a:lumOff val="25000"/>
                  </a:schemeClr>
                </a:solidFill>
              </a:rPr>
              <a:t>CI/CD Support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000">
                <a:solidFill>
                  <a:schemeClr val="tx1">
                    <a:lumMod val="75000"/>
                    <a:lumOff val="25000"/>
                  </a:schemeClr>
                </a:solidFill>
              </a:rPr>
              <a:t>Database changes become part of deployment pipeline.</a:t>
            </a:r>
          </a:p>
          <a:p>
            <a:pPr>
              <a:lnSpc>
                <a:spcPct val="90000"/>
              </a:lnSpc>
            </a:pPr>
            <a:endParaRPr lang="en-IN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39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1166F-6EC2-D8EF-F107-FEA58A802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35" y="2708804"/>
            <a:ext cx="2774103" cy="1440394"/>
          </a:xfrm>
          <a:noFill/>
          <a:ln>
            <a:solidFill>
              <a:schemeClr val="tx1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900" kern="1200" cap="all" spc="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Flyway Architecture and Workflow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144AD-0E40-3219-0094-299E4C36E9A5}"/>
              </a:ext>
            </a:extLst>
          </p:cNvPr>
          <p:cNvSpPr txBox="1"/>
          <p:nvPr/>
        </p:nvSpPr>
        <p:spPr>
          <a:xfrm>
            <a:off x="4536886" y="797322"/>
            <a:ext cx="4056522" cy="5252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ts val="1000"/>
              </a:spcBef>
              <a:buClr>
                <a:schemeClr val="accent2"/>
              </a:buClr>
            </a:pPr>
            <a:r>
              <a:rPr lang="en-US" dirty="0">
                <a:solidFill>
                  <a:schemeClr val="bg1"/>
                </a:solidFill>
              </a:rPr>
              <a:t>Application Startup</a:t>
            </a:r>
          </a:p>
          <a:p>
            <a:pPr defTabSz="914400">
              <a:spcBef>
                <a:spcPts val="1000"/>
              </a:spcBef>
              <a:buClr>
                <a:schemeClr val="accent2"/>
              </a:buClr>
            </a:pPr>
            <a:r>
              <a:rPr lang="en-US" dirty="0">
                <a:solidFill>
                  <a:schemeClr val="bg1"/>
                </a:solidFill>
              </a:rPr>
              <a:t>        |</a:t>
            </a:r>
          </a:p>
          <a:p>
            <a:pPr defTabSz="914400">
              <a:spcBef>
                <a:spcPts val="1000"/>
              </a:spcBef>
              <a:buClr>
                <a:schemeClr val="accent2"/>
              </a:buClr>
            </a:pPr>
            <a:r>
              <a:rPr lang="en-US" dirty="0">
                <a:solidFill>
                  <a:schemeClr val="bg1"/>
                </a:solidFill>
              </a:rPr>
              <a:t>        V</a:t>
            </a:r>
          </a:p>
          <a:p>
            <a:pPr defTabSz="914400">
              <a:spcBef>
                <a:spcPts val="1000"/>
              </a:spcBef>
              <a:buClr>
                <a:schemeClr val="accent2"/>
              </a:buClr>
            </a:pPr>
            <a:r>
              <a:rPr lang="en-US" dirty="0">
                <a:solidFill>
                  <a:schemeClr val="bg1"/>
                </a:solidFill>
              </a:rPr>
              <a:t>Flyway scans </a:t>
            </a:r>
            <a:r>
              <a:rPr lang="en-US" dirty="0" err="1">
                <a:solidFill>
                  <a:schemeClr val="bg1"/>
                </a:solidFill>
              </a:rPr>
              <a:t>db</a:t>
            </a:r>
            <a:r>
              <a:rPr lang="en-US" dirty="0">
                <a:solidFill>
                  <a:schemeClr val="bg1"/>
                </a:solidFill>
              </a:rPr>
              <a:t>/migration</a:t>
            </a:r>
          </a:p>
          <a:p>
            <a:pPr defTabSz="914400">
              <a:spcBef>
                <a:spcPts val="1000"/>
              </a:spcBef>
              <a:buClr>
                <a:schemeClr val="accent2"/>
              </a:buClr>
            </a:pPr>
            <a:r>
              <a:rPr lang="en-US" dirty="0">
                <a:solidFill>
                  <a:schemeClr val="bg1"/>
                </a:solidFill>
              </a:rPr>
              <a:t>        |</a:t>
            </a:r>
          </a:p>
          <a:p>
            <a:pPr defTabSz="914400">
              <a:spcBef>
                <a:spcPts val="1000"/>
              </a:spcBef>
              <a:buClr>
                <a:schemeClr val="accent2"/>
              </a:buClr>
            </a:pPr>
            <a:r>
              <a:rPr lang="en-US" dirty="0">
                <a:solidFill>
                  <a:schemeClr val="bg1"/>
                </a:solidFill>
              </a:rPr>
              <a:t>        V</a:t>
            </a:r>
          </a:p>
          <a:p>
            <a:pPr defTabSz="914400">
              <a:spcBef>
                <a:spcPts val="1000"/>
              </a:spcBef>
              <a:buClr>
                <a:schemeClr val="accent2"/>
              </a:buClr>
            </a:pPr>
            <a:r>
              <a:rPr lang="en-US" dirty="0">
                <a:solidFill>
                  <a:schemeClr val="bg1"/>
                </a:solidFill>
              </a:rPr>
              <a:t>Checks FLYWAY_SCHEMA_HISTORY</a:t>
            </a:r>
          </a:p>
          <a:p>
            <a:pPr defTabSz="914400">
              <a:spcBef>
                <a:spcPts val="1000"/>
              </a:spcBef>
              <a:buClr>
                <a:schemeClr val="accent2"/>
              </a:buClr>
            </a:pPr>
            <a:r>
              <a:rPr lang="en-US" dirty="0">
                <a:solidFill>
                  <a:schemeClr val="bg1"/>
                </a:solidFill>
              </a:rPr>
              <a:t>        |</a:t>
            </a:r>
          </a:p>
          <a:p>
            <a:pPr defTabSz="914400">
              <a:spcBef>
                <a:spcPts val="1000"/>
              </a:spcBef>
              <a:buClr>
                <a:schemeClr val="accent2"/>
              </a:buClr>
            </a:pPr>
            <a:r>
              <a:rPr lang="en-US" dirty="0">
                <a:solidFill>
                  <a:schemeClr val="bg1"/>
                </a:solidFill>
              </a:rPr>
              <a:t>        V</a:t>
            </a:r>
          </a:p>
          <a:p>
            <a:pPr defTabSz="914400">
              <a:spcBef>
                <a:spcPts val="1000"/>
              </a:spcBef>
              <a:buClr>
                <a:schemeClr val="accent2"/>
              </a:buClr>
            </a:pPr>
            <a:r>
              <a:rPr lang="en-US" dirty="0">
                <a:solidFill>
                  <a:schemeClr val="bg1"/>
                </a:solidFill>
              </a:rPr>
              <a:t>Executes pending scripts</a:t>
            </a:r>
          </a:p>
          <a:p>
            <a:pPr defTabSz="914400">
              <a:spcBef>
                <a:spcPts val="1000"/>
              </a:spcBef>
              <a:buClr>
                <a:schemeClr val="accent2"/>
              </a:buClr>
            </a:pPr>
            <a:r>
              <a:rPr lang="en-US" dirty="0">
                <a:solidFill>
                  <a:schemeClr val="bg1"/>
                </a:solidFill>
              </a:rPr>
              <a:t>        |</a:t>
            </a:r>
          </a:p>
          <a:p>
            <a:pPr defTabSz="914400">
              <a:spcBef>
                <a:spcPts val="1000"/>
              </a:spcBef>
              <a:buClr>
                <a:schemeClr val="accent2"/>
              </a:buClr>
            </a:pPr>
            <a:r>
              <a:rPr lang="en-US" dirty="0">
                <a:solidFill>
                  <a:schemeClr val="bg1"/>
                </a:solidFill>
              </a:rPr>
              <a:t>        V</a:t>
            </a:r>
          </a:p>
          <a:p>
            <a:pPr defTabSz="914400">
              <a:spcBef>
                <a:spcPts val="1000"/>
              </a:spcBef>
              <a:buClr>
                <a:schemeClr val="accent2"/>
              </a:buClr>
            </a:pPr>
            <a:r>
              <a:rPr lang="en-US" dirty="0">
                <a:solidFill>
                  <a:schemeClr val="bg1"/>
                </a:solidFill>
              </a:rPr>
              <a:t>Updates history table</a:t>
            </a:r>
          </a:p>
        </p:txBody>
      </p:sp>
    </p:spTree>
    <p:extLst>
      <p:ext uri="{BB962C8B-B14F-4D97-AF65-F5344CB8AC3E}">
        <p14:creationId xmlns:p14="http://schemas.microsoft.com/office/powerpoint/2010/main" val="1527667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3652-17E9-CF30-552D-9E8873FA7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07" y="1444753"/>
            <a:ext cx="3284579" cy="3968496"/>
          </a:xfrm>
          <a:prstGeom prst="rect">
            <a:avLst/>
          </a:prstGeom>
          <a:solidFill>
            <a:schemeClr val="accent2"/>
          </a:solidFill>
          <a:ln w="190500" cap="sq" cmpd="thinThick">
            <a:solidFill>
              <a:schemeClr val="accent2"/>
            </a:solidFill>
            <a:miter lim="800000"/>
          </a:ln>
        </p:spPr>
        <p:txBody>
          <a:bodyPr wrap="square" anchor="ctr">
            <a:normAutofit/>
          </a:bodyPr>
          <a:lstStyle/>
          <a:p>
            <a:r>
              <a:rPr lang="en-IN" sz="2800">
                <a:solidFill>
                  <a:srgbClr val="FFFFFF"/>
                </a:solidFill>
              </a:rPr>
              <a:t>Flyway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20083-B63A-BA55-989C-C15E84936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9" y="1444752"/>
            <a:ext cx="3612294" cy="396849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500" b="1">
                <a:solidFill>
                  <a:schemeClr val="tx1">
                    <a:lumMod val="75000"/>
                    <a:lumOff val="25000"/>
                  </a:schemeClr>
                </a:solidFill>
              </a:rPr>
              <a:t>Step 1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IN" sz="1500">
                <a:solidFill>
                  <a:schemeClr val="tx1">
                    <a:lumMod val="75000"/>
                    <a:lumOff val="25000"/>
                  </a:schemeClr>
                </a:solidFill>
              </a:rPr>
              <a:t>Create migration: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IN" sz="1500">
                <a:solidFill>
                  <a:schemeClr val="tx1">
                    <a:lumMod val="75000"/>
                    <a:lumOff val="25000"/>
                  </a:schemeClr>
                </a:solidFill>
              </a:rPr>
              <a:t>V1__create_employee_table.sql</a:t>
            </a:r>
          </a:p>
          <a:p>
            <a:pPr>
              <a:lnSpc>
                <a:spcPct val="90000"/>
              </a:lnSpc>
            </a:pPr>
            <a:r>
              <a:rPr lang="en-IN" sz="1500" b="1">
                <a:solidFill>
                  <a:schemeClr val="tx1">
                    <a:lumMod val="75000"/>
                    <a:lumOff val="25000"/>
                  </a:schemeClr>
                </a:solidFill>
              </a:rPr>
              <a:t>Step 2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IN" sz="1500">
                <a:solidFill>
                  <a:schemeClr val="tx1">
                    <a:lumMod val="75000"/>
                    <a:lumOff val="25000"/>
                  </a:schemeClr>
                </a:solidFill>
              </a:rPr>
              <a:t>Application starts.</a:t>
            </a:r>
          </a:p>
          <a:p>
            <a:pPr>
              <a:lnSpc>
                <a:spcPct val="90000"/>
              </a:lnSpc>
            </a:pPr>
            <a:r>
              <a:rPr lang="en-IN" sz="1500" b="1">
                <a:solidFill>
                  <a:schemeClr val="tx1">
                    <a:lumMod val="75000"/>
                    <a:lumOff val="25000"/>
                  </a:schemeClr>
                </a:solidFill>
              </a:rPr>
              <a:t>Step 3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IN" sz="1500">
                <a:solidFill>
                  <a:schemeClr val="tx1">
                    <a:lumMod val="75000"/>
                    <a:lumOff val="25000"/>
                  </a:schemeClr>
                </a:solidFill>
              </a:rPr>
              <a:t>Flyway checks: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IN" sz="1500">
                <a:solidFill>
                  <a:schemeClr val="tx1">
                    <a:lumMod val="75000"/>
                    <a:lumOff val="25000"/>
                  </a:schemeClr>
                </a:solidFill>
              </a:rPr>
              <a:t>FLYWAY_SCHEMA_HISTORY</a:t>
            </a:r>
          </a:p>
          <a:p>
            <a:pPr>
              <a:lnSpc>
                <a:spcPct val="90000"/>
              </a:lnSpc>
            </a:pPr>
            <a:r>
              <a:rPr lang="en-IN" sz="1500" b="1">
                <a:solidFill>
                  <a:schemeClr val="tx1">
                    <a:lumMod val="75000"/>
                    <a:lumOff val="25000"/>
                  </a:schemeClr>
                </a:solidFill>
              </a:rPr>
              <a:t>Step 4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IN" sz="1500">
                <a:solidFill>
                  <a:schemeClr val="tx1">
                    <a:lumMod val="75000"/>
                    <a:lumOff val="25000"/>
                  </a:schemeClr>
                </a:solidFill>
              </a:rPr>
              <a:t>Script executes.</a:t>
            </a:r>
          </a:p>
          <a:p>
            <a:pPr>
              <a:lnSpc>
                <a:spcPct val="90000"/>
              </a:lnSpc>
            </a:pPr>
            <a:r>
              <a:rPr lang="en-IN" sz="1500" b="1">
                <a:solidFill>
                  <a:schemeClr val="tx1">
                    <a:lumMod val="75000"/>
                    <a:lumOff val="25000"/>
                  </a:schemeClr>
                </a:solidFill>
              </a:rPr>
              <a:t>Step 5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IN" sz="1500">
                <a:solidFill>
                  <a:schemeClr val="tx1">
                    <a:lumMod val="75000"/>
                    <a:lumOff val="25000"/>
                  </a:schemeClr>
                </a:solidFill>
              </a:rPr>
              <a:t>Entry added to history table.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5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958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EA521-ABDA-40C0-ACA8-522F99219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07" y="1444753"/>
            <a:ext cx="3284579" cy="3968496"/>
          </a:xfrm>
          <a:prstGeom prst="rect">
            <a:avLst/>
          </a:prstGeom>
          <a:solidFill>
            <a:schemeClr val="accent2"/>
          </a:solidFill>
          <a:ln w="190500" cap="sq" cmpd="thinThick">
            <a:solidFill>
              <a:schemeClr val="accent2"/>
            </a:solidFill>
            <a:miter lim="800000"/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sz="28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Liquibase Architecture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DBB79A-3755-0FBD-F95F-D610FF4E3665}"/>
              </a:ext>
            </a:extLst>
          </p:cNvPr>
          <p:cNvSpPr txBox="1"/>
          <p:nvPr/>
        </p:nvSpPr>
        <p:spPr>
          <a:xfrm>
            <a:off x="4571999" y="1444752"/>
            <a:ext cx="3612294" cy="3968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Application Startup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|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V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Read Changelog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|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V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Check DATABASECHANGELOG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|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V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Execute pending changesets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|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V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Update metadata tables</a:t>
            </a:r>
          </a:p>
        </p:txBody>
      </p:sp>
    </p:spTree>
    <p:extLst>
      <p:ext uri="{BB962C8B-B14F-4D97-AF65-F5344CB8AC3E}">
        <p14:creationId xmlns:p14="http://schemas.microsoft.com/office/powerpoint/2010/main" val="2721578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0B4BA-CA07-DE66-3E3A-D41424E27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IN" dirty="0"/>
              <a:t>Metadata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A2810-BB42-6E2E-B20C-7269B794F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404040"/>
                </a:solidFill>
              </a:rPr>
              <a:t>DATABASECHANGELOG</a:t>
            </a:r>
          </a:p>
          <a:p>
            <a:pPr lvl="1"/>
            <a:r>
              <a:rPr lang="en-IN">
                <a:solidFill>
                  <a:srgbClr val="404040"/>
                </a:solidFill>
              </a:rPr>
              <a:t>Stores executed changesets.</a:t>
            </a:r>
          </a:p>
          <a:p>
            <a:r>
              <a:rPr lang="en-IN" b="1">
                <a:solidFill>
                  <a:srgbClr val="404040"/>
                </a:solidFill>
              </a:rPr>
              <a:t>DATABASECHANGELOGLOCK</a:t>
            </a:r>
          </a:p>
          <a:p>
            <a:pPr lvl="1"/>
            <a:r>
              <a:rPr lang="en-IN">
                <a:solidFill>
                  <a:srgbClr val="404040"/>
                </a:solidFill>
              </a:rPr>
              <a:t>Prevents concurrent execution.</a:t>
            </a:r>
          </a:p>
          <a:p>
            <a:endParaRPr lang="en-IN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219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A311C-C38D-DD8A-F0C6-7DAE2806C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IN" dirty="0"/>
              <a:t>Liquibase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09008-F9BD-463A-8015-BCECAE80D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404040"/>
                </a:solidFill>
              </a:rPr>
              <a:t>Create changelog. </a:t>
            </a:r>
          </a:p>
          <a:p>
            <a:r>
              <a:rPr lang="en-IN">
                <a:solidFill>
                  <a:srgbClr val="404040"/>
                </a:solidFill>
              </a:rPr>
              <a:t>Define changesets.</a:t>
            </a:r>
          </a:p>
          <a:p>
            <a:r>
              <a:rPr lang="en-IN">
                <a:solidFill>
                  <a:srgbClr val="404040"/>
                </a:solidFill>
              </a:rPr>
              <a:t> Spring Boot starts. </a:t>
            </a:r>
          </a:p>
          <a:p>
            <a:r>
              <a:rPr lang="en-IN">
                <a:solidFill>
                  <a:srgbClr val="404040"/>
                </a:solidFill>
              </a:rPr>
              <a:t>Liquibase checks metadata. </a:t>
            </a:r>
          </a:p>
          <a:p>
            <a:r>
              <a:rPr lang="en-IN">
                <a:solidFill>
                  <a:srgbClr val="404040"/>
                </a:solidFill>
              </a:rPr>
              <a:t>Pending changesets execute.</a:t>
            </a:r>
          </a:p>
        </p:txBody>
      </p:sp>
    </p:spTree>
    <p:extLst>
      <p:ext uri="{BB962C8B-B14F-4D97-AF65-F5344CB8AC3E}">
        <p14:creationId xmlns:p14="http://schemas.microsoft.com/office/powerpoint/2010/main" val="3057715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Performance Tuning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Identify bottlenecks before optimization.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Measure CPU, memory and database performance.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Optimize SQL queries and indexes.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Reduce unnecessary object creation.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Monitor application metrics continuously.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Database Performance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IN" sz="2000" dirty="0">
                <a:solidFill>
                  <a:srgbClr val="404040"/>
                </a:solidFill>
              </a:rPr>
              <a:t>Avoid N+1 select problem.</a:t>
            </a:r>
          </a:p>
          <a:p>
            <a:pPr>
              <a:defRPr sz="2000"/>
            </a:pPr>
            <a:r>
              <a:rPr lang="en-IN" sz="2000" dirty="0">
                <a:solidFill>
                  <a:srgbClr val="404040"/>
                </a:solidFill>
              </a:rPr>
              <a:t>Use fetch joins when appropriate.</a:t>
            </a:r>
          </a:p>
          <a:p>
            <a:pPr>
              <a:defRPr sz="2000"/>
            </a:pPr>
            <a:r>
              <a:rPr lang="en-IN" sz="2000" dirty="0">
                <a:solidFill>
                  <a:srgbClr val="404040"/>
                </a:solidFill>
              </a:rPr>
              <a:t>Enable connection pooling using </a:t>
            </a:r>
            <a:r>
              <a:rPr lang="en-IN" sz="2000" dirty="0" err="1">
                <a:solidFill>
                  <a:srgbClr val="404040"/>
                </a:solidFill>
              </a:rPr>
              <a:t>HikariCP</a:t>
            </a:r>
            <a:r>
              <a:rPr lang="en-IN" sz="2000" dirty="0">
                <a:solidFill>
                  <a:srgbClr val="404040"/>
                </a:solidFill>
              </a:rPr>
              <a:t>.</a:t>
            </a:r>
          </a:p>
          <a:p>
            <a:pPr>
              <a:defRPr sz="2000"/>
            </a:pPr>
            <a:r>
              <a:rPr lang="en-IN" sz="2000" dirty="0">
                <a:solidFill>
                  <a:srgbClr val="404040"/>
                </a:solidFill>
              </a:rPr>
              <a:t>Create indexes on frequently queried columns.</a:t>
            </a:r>
          </a:p>
          <a:p>
            <a:pPr>
              <a:defRPr sz="2000"/>
            </a:pPr>
            <a:r>
              <a:rPr lang="en-IN" sz="2000" dirty="0" err="1">
                <a:solidFill>
                  <a:srgbClr val="404040"/>
                </a:solidFill>
              </a:rPr>
              <a:t>Analyze</a:t>
            </a:r>
            <a:r>
              <a:rPr lang="en-IN" sz="2000" dirty="0">
                <a:solidFill>
                  <a:srgbClr val="404040"/>
                </a:solidFill>
              </a:rPr>
              <a:t> slow query logs.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Caching and Connection 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Use first-level and second-level cache when beneficial.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Configure HikariCP pool size correctly.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Reuse database connections efficiently.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Reduce database latency and resource consumption.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Monitor pool utilization metrics.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Choose locking strategy based on business requirements.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Use batch processing for large data operations.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Avoid loading millions of rows into memory.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Version-control all database changes.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Profile and tune applications regularly.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Concurrency, scalability and performance are key in enterprise applications.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Spring Boot provides robust tools for each requirement.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Combine JPA, Batch, Migration and Tuning techniques effectively.</a:t>
            </a:r>
          </a:p>
          <a:p>
            <a:pPr>
              <a:defRPr sz="2000"/>
            </a:pPr>
            <a:r>
              <a:rPr lang="en-US" sz="2000">
                <a:solidFill>
                  <a:srgbClr val="404040"/>
                </a:solidFill>
              </a:rPr>
              <a:t>Apply these concepts to build reliable and high-performing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325</TotalTime>
  <Words>1100</Words>
  <Application>Microsoft Office PowerPoint</Application>
  <PresentationFormat>On-screen Show (4:3)</PresentationFormat>
  <Paragraphs>212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Gill Sans MT</vt:lpstr>
      <vt:lpstr>Parcel</vt:lpstr>
      <vt:lpstr>Spring Boot Advanced Concepts</vt:lpstr>
      <vt:lpstr>Agenda</vt:lpstr>
      <vt:lpstr>Optimistic Locking - Introduction</vt:lpstr>
      <vt:lpstr>Optimistic Locking - Implementation</vt:lpstr>
      <vt:lpstr>Optimistic Locking - Example Flow</vt:lpstr>
      <vt:lpstr>Pessimistic Locking - Introduction</vt:lpstr>
      <vt:lpstr>Pessimistic Locking - Types</vt:lpstr>
      <vt:lpstr>Optimistic vs Pessimistic Locking</vt:lpstr>
      <vt:lpstr>Batch Processing - Introduction</vt:lpstr>
      <vt:lpstr>Batch Processing - Spring Batch Architecture</vt:lpstr>
      <vt:lpstr>Batch Processing - JPA and Hibernate Tuning</vt:lpstr>
      <vt:lpstr>Handling Large Datasets</vt:lpstr>
      <vt:lpstr>Pagination Example</vt:lpstr>
      <vt:lpstr>Database Migration - Why Needed?</vt:lpstr>
      <vt:lpstr>Introduction to Flyway &amp; Liquibase</vt:lpstr>
      <vt:lpstr>Example Problem</vt:lpstr>
      <vt:lpstr>To solve this problem, we use:</vt:lpstr>
      <vt:lpstr>Why Database Versioning is Needed</vt:lpstr>
      <vt:lpstr>Why Database Versioning is Needed</vt:lpstr>
      <vt:lpstr>Flyway Architecture and Workflow</vt:lpstr>
      <vt:lpstr>Flyway Workflow</vt:lpstr>
      <vt:lpstr>Liquibase Architecture </vt:lpstr>
      <vt:lpstr>Metadata Tables</vt:lpstr>
      <vt:lpstr>Liquibase Workflow</vt:lpstr>
      <vt:lpstr>Performance Tuning Basics</vt:lpstr>
      <vt:lpstr>Database Performance Tuning</vt:lpstr>
      <vt:lpstr>Caching and Connection Pooling</vt:lpstr>
      <vt:lpstr>Best Practices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Sujata Batra</cp:lastModifiedBy>
  <cp:revision>12</cp:revision>
  <dcterms:created xsi:type="dcterms:W3CDTF">2013-01-27T09:14:16Z</dcterms:created>
  <dcterms:modified xsi:type="dcterms:W3CDTF">2026-06-29T14:06:49Z</dcterms:modified>
  <cp:category/>
</cp:coreProperties>
</file>