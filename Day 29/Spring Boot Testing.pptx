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80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9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E488-EA25-64C7-A35E-A6F9E8ADD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66915-40B2-41D7-C717-DAF7A13BF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156F1-AA8C-3148-D53A-016C4949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2E30C-837D-9E0F-D9B2-4298B2C6B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DA51C-6C3B-3885-5920-5F6C201D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92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B5B8-63F0-D4E4-0FEA-5F1356A1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F81F0-D534-99F0-4AB0-E12215647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D7E0A-82D7-54C1-1414-6DB07063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8561A-A06A-27A2-151F-F9F563D0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30B9A-4CD8-6023-2D81-DF002F56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057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2C9F-E263-A693-698A-8EFFDA6E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2B233-3C92-62CB-F4BF-3B61BD691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50D19-6A48-77EC-2D10-88559972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89347-FE73-7D63-53AE-987907C8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D557A-BC1C-C103-E861-78B209AD5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5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B1E-4978-BCD3-1CFA-671A23A4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37989-27BE-2DC7-65AF-264A4474A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DF6F0-2A3E-0158-45D0-023422CD4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0D43D-9FF7-8AFC-C0F7-FFEBB009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91DCE-F7F2-DEC2-618F-A591A317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B0A07-F6AC-1B3D-6EA7-1D12F24F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182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77235-2997-6FE1-DD5B-9F02BAB52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43523-5515-9489-C6AB-F7594DA6E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C6CEF-9398-0694-8818-EBA91E9DC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04B77-4D98-D58B-73B7-83397CA40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6CB62-3BD7-6A20-F918-BF6E333FC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E2B329-142E-621F-1E4B-CA72BECB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CAEAE-ED27-8E77-42F5-928E2AD82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6D50A8-0559-3DDE-50C0-303FBFEC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178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EDB0-51AC-516E-F7F0-7A44EA476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31AD3-A6A5-C2A2-BF8D-2FAEC02A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EEDC9-3AE6-D0DA-DD1B-8FE3B3D6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949F6-C388-5548-63F7-7469B750A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02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FB30CA-1274-95FE-B956-40320FFC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F58C7-13EA-DAFE-4041-70F7D1809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C4D54-0D3B-20B2-8305-319842B5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45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7B49-192E-C4DA-26CB-B1A44609B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0B4C-A04C-003A-447F-4051D6DAE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17DE-DBBF-AF18-6B62-E5BB4ADA2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51FFB-3483-E3B0-3BF6-396AF2D4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BE5DE-9747-1950-A6D3-4FEB221FC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A69A2-7D6F-3F8C-15CC-77B28C76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06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8E24-7170-92CA-1340-08670615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289DD4-1D39-B8E1-0A78-40B23821C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FE50C-B42B-3398-710D-154C9CC5C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64259-29E4-85D9-0562-479FDA10B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B078D-4B25-B0B6-E482-4F2D6C75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F587D-1429-DB54-F0F0-3CCAEE6F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40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FAACD-CE79-F926-3CAC-5AF37475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B8117-E5ED-A659-02B9-660DE8710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61911-1EEC-621F-8013-E47A2668A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3324F-9749-9ED3-1FE3-54177D1A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B3A73-AEFD-5AA0-E71A-8358025D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213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D1CAC4-C14E-AC0F-7485-DFEB3E424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366E4-D8A9-2231-FE25-961AFE04F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9C906-8388-33BE-61CC-C6C649BC8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EA27C-4EBA-3428-D0E8-EBB4E398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5A582-CFDE-7AAE-ADE6-37A465CE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628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3E67B-0CFB-1648-CD6D-36ED66BD3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C2F7E-A49B-4D67-3441-0170DE537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72D5F-E0D4-48A6-D153-D81C93A64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FE0A3-F0F0-4DC9-A5B8-27B53EDFE760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5970F-6B61-D4D5-6A92-00E32609A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07686-807D-1EDF-A7D0-1B364E13D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7E7AF-F27B-4C96-9239-4DD3DD283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85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92D68-07D5-C6A8-4A7A-79492FA59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435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Spring Boot Unit Testing, Integration Testing, </a:t>
            </a:r>
            <a:r>
              <a:rPr lang="en-IN" dirty="0" err="1"/>
              <a:t>Testcontainer</a:t>
            </a:r>
            <a:r>
              <a:rPr lang="en-IN" dirty="0"/>
              <a:t>, Performance Test</a:t>
            </a:r>
          </a:p>
        </p:txBody>
      </p:sp>
    </p:spTree>
    <p:extLst>
      <p:ext uri="{BB962C8B-B14F-4D97-AF65-F5344CB8AC3E}">
        <p14:creationId xmlns:p14="http://schemas.microsoft.com/office/powerpoint/2010/main" val="142880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4071C-B0EA-2270-10C0-CF1838F7B7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Testing</a:t>
            </a:r>
          </a:p>
        </p:txBody>
      </p:sp>
    </p:spTree>
    <p:extLst>
      <p:ext uri="{BB962C8B-B14F-4D97-AF65-F5344CB8AC3E}">
        <p14:creationId xmlns:p14="http://schemas.microsoft.com/office/powerpoint/2010/main" val="1043959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2FAF4-51A0-BACD-09E1-7C4FAF8F6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Unit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21144-BF27-660A-019A-2F3CC7DB1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 </a:t>
            </a:r>
            <a:r>
              <a:rPr lang="en-IN" b="1" dirty="0"/>
              <a:t>Unit Test</a:t>
            </a:r>
            <a:r>
              <a:rPr lang="en-IN" dirty="0"/>
              <a:t> tests one small piece (unit) of your application in isolation.</a:t>
            </a:r>
          </a:p>
          <a:p>
            <a:pPr marL="0" indent="0">
              <a:buNone/>
            </a:pPr>
            <a:r>
              <a:rPr lang="en-IN" dirty="0"/>
              <a:t>A unit can be:</a:t>
            </a:r>
          </a:p>
          <a:p>
            <a:r>
              <a:rPr lang="en-IN" dirty="0"/>
              <a:t>A method </a:t>
            </a:r>
          </a:p>
          <a:p>
            <a:r>
              <a:rPr lang="en-IN" dirty="0"/>
              <a:t>A class </a:t>
            </a:r>
          </a:p>
          <a:p>
            <a:r>
              <a:rPr lang="en-IN" dirty="0"/>
              <a:t>A service </a:t>
            </a:r>
          </a:p>
          <a:p>
            <a:r>
              <a:rPr lang="en-IN" dirty="0"/>
              <a:t>A utility class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315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F88F8-7B8E-8B4D-6BE0-32777CFD9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JUnit 5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4ACF2-7BD6-3A2D-0310-1333AD10F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JUnit Platform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 ▼</a:t>
            </a:r>
          </a:p>
          <a:p>
            <a:pPr marL="0" indent="0">
              <a:buNone/>
            </a:pPr>
            <a:r>
              <a:rPr lang="en-US" dirty="0"/>
              <a:t>JUnit Jupiter</a:t>
            </a:r>
          </a:p>
          <a:p>
            <a:pPr marL="0" indent="0">
              <a:buNone/>
            </a:pPr>
            <a:r>
              <a:rPr lang="en-US" dirty="0"/>
              <a:t>        │</a:t>
            </a:r>
          </a:p>
          <a:p>
            <a:pPr marL="0" indent="0">
              <a:buNone/>
            </a:pPr>
            <a:r>
              <a:rPr lang="en-US" dirty="0"/>
              <a:t>        ▼</a:t>
            </a:r>
          </a:p>
          <a:p>
            <a:pPr marL="0" indent="0">
              <a:buNone/>
            </a:pPr>
            <a:r>
              <a:rPr lang="en-US" dirty="0"/>
              <a:t>Your Test Classes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Platform</a:t>
            </a:r>
            <a:r>
              <a:rPr lang="en-IN" dirty="0"/>
              <a:t> → Runs tests </a:t>
            </a:r>
          </a:p>
          <a:p>
            <a:r>
              <a:rPr lang="en-IN" b="1" dirty="0"/>
              <a:t>Jupiter</a:t>
            </a:r>
            <a:r>
              <a:rPr lang="en-IN" dirty="0"/>
              <a:t> → Provides annotations and assertions </a:t>
            </a:r>
          </a:p>
          <a:p>
            <a:r>
              <a:rPr lang="en-IN" b="1" dirty="0"/>
              <a:t>Vintage</a:t>
            </a:r>
            <a:r>
              <a:rPr lang="en-IN" dirty="0"/>
              <a:t> → Supports JUnit 4 (if needed)</a:t>
            </a:r>
          </a:p>
        </p:txBody>
      </p:sp>
    </p:spTree>
    <p:extLst>
      <p:ext uri="{BB962C8B-B14F-4D97-AF65-F5344CB8AC3E}">
        <p14:creationId xmlns:p14="http://schemas.microsoft.com/office/powerpoint/2010/main" val="158584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0031-CA8A-84C0-80E0-BF99BD529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@Test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F1214-0729-B702-A4FF-1D748AB1B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Any method annotated with @Test is executed by JUnit.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@Test</a:t>
            </a:r>
          </a:p>
          <a:p>
            <a:pPr marL="0" indent="0">
              <a:buNone/>
            </a:pPr>
            <a:r>
              <a:rPr lang="en-IN" dirty="0"/>
              <a:t>void </a:t>
            </a:r>
            <a:r>
              <a:rPr lang="en-IN" dirty="0" err="1"/>
              <a:t>testSaveEmployee</a:t>
            </a:r>
            <a:r>
              <a:rPr lang="en-IN" dirty="0"/>
              <a:t>(){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0579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D396-4BED-82FE-8773-2382BA9E1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Assertions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00AFA-CFE8-4AED-ECC3-42FFD66C4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Assertions verify expected results.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Common assertions:</a:t>
            </a:r>
          </a:p>
          <a:p>
            <a:r>
              <a:rPr lang="en-IN" dirty="0" err="1"/>
              <a:t>assertEquals</a:t>
            </a:r>
            <a:r>
              <a:rPr lang="en-IN" dirty="0"/>
              <a:t>()</a:t>
            </a:r>
          </a:p>
          <a:p>
            <a:r>
              <a:rPr lang="en-IN" dirty="0" err="1"/>
              <a:t>assertNotEquals</a:t>
            </a:r>
            <a:r>
              <a:rPr lang="en-IN" dirty="0"/>
              <a:t>()</a:t>
            </a:r>
          </a:p>
          <a:p>
            <a:r>
              <a:rPr lang="en-IN" dirty="0" err="1"/>
              <a:t>assertTrue</a:t>
            </a:r>
            <a:r>
              <a:rPr lang="en-IN" dirty="0"/>
              <a:t>()</a:t>
            </a:r>
          </a:p>
          <a:p>
            <a:r>
              <a:rPr lang="en-IN" dirty="0" err="1"/>
              <a:t>assertFalse</a:t>
            </a:r>
            <a:r>
              <a:rPr lang="en-IN" dirty="0"/>
              <a:t>()</a:t>
            </a:r>
          </a:p>
          <a:p>
            <a:r>
              <a:rPr lang="en-IN" dirty="0" err="1"/>
              <a:t>assertNull</a:t>
            </a:r>
            <a:r>
              <a:rPr lang="en-IN" dirty="0"/>
              <a:t>()</a:t>
            </a:r>
          </a:p>
          <a:p>
            <a:r>
              <a:rPr lang="en-IN" dirty="0" err="1"/>
              <a:t>assertNotNull</a:t>
            </a:r>
            <a:r>
              <a:rPr lang="en-IN" dirty="0"/>
              <a:t>()</a:t>
            </a:r>
          </a:p>
          <a:p>
            <a:r>
              <a:rPr lang="en-IN" dirty="0" err="1"/>
              <a:t>assertThrows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450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5711E-DF8D-AFB6-7C4D-D3F4ED980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Before and After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63F4D-0711-69E0-EFC6-6B09E81EF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@BeforeEach : </a:t>
            </a:r>
            <a:r>
              <a:rPr lang="en-IN" dirty="0"/>
              <a:t>Runs before every test.</a:t>
            </a:r>
          </a:p>
          <a:p>
            <a:pPr marL="457200" lvl="1" indent="0">
              <a:buNone/>
            </a:pPr>
            <a:r>
              <a:rPr lang="en-IN" dirty="0"/>
              <a:t>Useful for creating common test data.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/>
              <a:t>@AfterEach : </a:t>
            </a:r>
            <a:r>
              <a:rPr lang="en-IN" dirty="0"/>
              <a:t>Runs after every test.</a:t>
            </a:r>
          </a:p>
          <a:p>
            <a:pPr marL="457200" lvl="1" indent="0">
              <a:buNone/>
            </a:pPr>
            <a:r>
              <a:rPr lang="en-IN" dirty="0"/>
              <a:t>Often used to release resources or reset shared state.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680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D262-A4D0-3B95-CACD-40BBB19A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EB6A1-B6F3-3657-B67E-70051C3ED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Produces readable test reports.</a:t>
            </a:r>
          </a:p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US" dirty="0"/>
              <a:t>@Test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@DisplayName("Should Save Employee Successfully")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testSaveEmployee</a:t>
            </a:r>
            <a:r>
              <a:rPr lang="en-US" dirty="0"/>
              <a:t>(){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061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7231-6377-2B23-7DBA-5E012DA4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Mockito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055B3-8934-DD6A-8254-90D6602DD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865"/>
            <a:ext cx="10515600" cy="4784098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Mockito is a </a:t>
            </a:r>
            <a:r>
              <a:rPr lang="en-IN" b="1" dirty="0"/>
              <a:t>Java-based library</a:t>
            </a:r>
            <a:r>
              <a:rPr lang="en-IN" dirty="0"/>
              <a:t> that allows developers to create </a:t>
            </a:r>
            <a:r>
              <a:rPr lang="en-IN" b="1" dirty="0"/>
              <a:t>mock objects</a:t>
            </a:r>
            <a:r>
              <a:rPr lang="en-IN" dirty="0"/>
              <a:t>, which are simulated versions of real objects used in testing. By replacing real dependencies with mocks, developers can </a:t>
            </a:r>
            <a:r>
              <a:rPr lang="en-IN" b="1" dirty="0"/>
              <a:t>test classes in isolation</a:t>
            </a:r>
            <a:r>
              <a:rPr lang="en-IN" dirty="0"/>
              <a:t>, ensuring that unit tests are faster, more reliable, and easier to maintain.</a:t>
            </a:r>
          </a:p>
          <a:p>
            <a:r>
              <a:rPr lang="en-IN" dirty="0"/>
              <a:t>A unit test should not connect to Oracle.</a:t>
            </a:r>
          </a:p>
          <a:p>
            <a:r>
              <a:rPr lang="en-IN" dirty="0"/>
              <a:t>Instead of using the real repository, we replace the repository with a </a:t>
            </a:r>
            <a:r>
              <a:rPr lang="en-IN" b="1" dirty="0"/>
              <a:t>Mock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EmployeeService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↓</a:t>
            </a:r>
          </a:p>
          <a:p>
            <a:pPr marL="0" indent="0">
              <a:buNone/>
            </a:pPr>
            <a:r>
              <a:rPr lang="en-US" dirty="0"/>
              <a:t>Mock </a:t>
            </a:r>
            <a:r>
              <a:rPr lang="en-US" dirty="0" err="1"/>
              <a:t>EmployeeRepository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↓</a:t>
            </a:r>
          </a:p>
          <a:p>
            <a:pPr marL="0" indent="0">
              <a:buNone/>
            </a:pPr>
            <a:r>
              <a:rPr lang="en-US" dirty="0"/>
              <a:t>No Database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486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A8CC0-551D-E6C7-0596-1392A7E9A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Mockito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DFD6E-1367-1BE5-EB78-1961F0037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061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@Mock : </a:t>
            </a:r>
            <a:r>
              <a:rPr lang="en-IN" dirty="0"/>
              <a:t>Creates a fake object.</a:t>
            </a:r>
          </a:p>
          <a:p>
            <a:r>
              <a:rPr lang="en-IN" b="1" dirty="0"/>
              <a:t>@InjectMocks : </a:t>
            </a:r>
            <a:r>
              <a:rPr lang="en-IN" dirty="0"/>
              <a:t>Creates the real service and injects the mocks into it.</a:t>
            </a:r>
          </a:p>
          <a:p>
            <a:r>
              <a:rPr lang="en-IN" b="1" dirty="0"/>
              <a:t>@ExtendWith : </a:t>
            </a:r>
            <a:r>
              <a:rPr lang="en-IN" dirty="0"/>
              <a:t>Enables Mockito support.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US" dirty="0"/>
              <a:t>@ExtendWith(MockitoExtension.class)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EmployeeServiceTest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@Mock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EmployeeRepository</a:t>
            </a:r>
            <a:r>
              <a:rPr lang="en-US" dirty="0"/>
              <a:t> repository;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@InjectMocks</a:t>
            </a:r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EmployeeService</a:t>
            </a:r>
            <a:r>
              <a:rPr lang="en-US" dirty="0"/>
              <a:t> </a:t>
            </a:r>
            <a:r>
              <a:rPr lang="en-US" dirty="0" err="1"/>
              <a:t>employeeService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596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DE92-AC1F-3E45-AF87-6E92F2F0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b="1" dirty="0"/>
              <a:t>Common Mockito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D0C9A-32FF-75BE-A69D-F288BADDA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Mockito provides several built-in methods that help developers control and verify the </a:t>
            </a:r>
            <a:r>
              <a:rPr lang="en-IN" dirty="0" err="1"/>
              <a:t>behavior</a:t>
            </a:r>
            <a:r>
              <a:rPr lang="en-IN" dirty="0"/>
              <a:t> of mock objects during testing. These methods are mainly used for stubbing method responses and verifying interactions between objects.</a:t>
            </a:r>
          </a:p>
          <a:p>
            <a:pPr marL="0" indent="0">
              <a:buNone/>
            </a:pPr>
            <a:endParaRPr lang="en-IN" dirty="0"/>
          </a:p>
          <a:p>
            <a:pPr fontAlgn="base"/>
            <a:r>
              <a:rPr lang="en-IN" b="1" dirty="0"/>
              <a:t>when().</a:t>
            </a:r>
            <a:r>
              <a:rPr lang="en-IN" b="1" dirty="0" err="1"/>
              <a:t>thenReturn</a:t>
            </a:r>
            <a:r>
              <a:rPr lang="en-IN" b="1" dirty="0"/>
              <a:t>() : </a:t>
            </a:r>
            <a:r>
              <a:rPr lang="en-IN" dirty="0"/>
              <a:t>Used for stubbing method calls to return specific values.</a:t>
            </a:r>
          </a:p>
          <a:p>
            <a:pPr marL="0" indent="0" fontAlgn="base">
              <a:buNone/>
            </a:pPr>
            <a:r>
              <a:rPr lang="en-IN" b="1" dirty="0"/>
              <a:t>Example:</a:t>
            </a:r>
          </a:p>
          <a:p>
            <a:pPr marL="0" indent="0" fontAlgn="base">
              <a:buNone/>
            </a:pPr>
            <a:r>
              <a:rPr lang="en-IN" dirty="0"/>
              <a:t>when(</a:t>
            </a:r>
            <a:r>
              <a:rPr lang="en-IN" dirty="0" err="1"/>
              <a:t>mockList.get</a:t>
            </a:r>
            <a:r>
              <a:rPr lang="en-IN" dirty="0"/>
              <a:t>(0)).</a:t>
            </a:r>
            <a:r>
              <a:rPr lang="en-IN" dirty="0" err="1"/>
              <a:t>thenReturn</a:t>
            </a:r>
            <a:r>
              <a:rPr lang="en-IN" dirty="0"/>
              <a:t>("First Element");</a:t>
            </a:r>
          </a:p>
          <a:p>
            <a:pPr marL="0" indent="0" fontAlgn="base">
              <a:buNone/>
            </a:pPr>
            <a:r>
              <a:rPr lang="en-IN" dirty="0"/>
              <a:t>when(</a:t>
            </a:r>
            <a:r>
              <a:rPr lang="en-IN" dirty="0" err="1"/>
              <a:t>mockList.size</a:t>
            </a:r>
            <a:r>
              <a:rPr lang="en-IN" dirty="0"/>
              <a:t>()).</a:t>
            </a:r>
            <a:r>
              <a:rPr lang="en-IN" dirty="0" err="1"/>
              <a:t>thenReturn</a:t>
            </a:r>
            <a:r>
              <a:rPr lang="en-IN" dirty="0"/>
              <a:t>(5);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336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94E9-A90F-DC1D-9C3D-D6A6AF25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Common Mockito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7B72-3DCE-3963-3268-0C816AAB2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IN" b="1" dirty="0"/>
              <a:t>when().</a:t>
            </a:r>
            <a:r>
              <a:rPr lang="en-IN" b="1" dirty="0" err="1"/>
              <a:t>thenThrow</a:t>
            </a:r>
            <a:r>
              <a:rPr lang="en-IN" b="1" dirty="0"/>
              <a:t>() : </a:t>
            </a:r>
            <a:r>
              <a:rPr lang="en-IN" dirty="0"/>
              <a:t>Used for stubbing method calls to throw exceptions.</a:t>
            </a:r>
          </a:p>
          <a:p>
            <a:pPr marL="0" indent="0" fontAlgn="base">
              <a:buNone/>
            </a:pPr>
            <a:r>
              <a:rPr lang="en-IN" b="1" dirty="0"/>
              <a:t>Example :</a:t>
            </a:r>
          </a:p>
          <a:p>
            <a:pPr marL="0" indent="0" fontAlgn="base">
              <a:buNone/>
            </a:pPr>
            <a:r>
              <a:rPr lang="en-IN" dirty="0"/>
              <a:t>when(</a:t>
            </a:r>
            <a:r>
              <a:rPr lang="en-IN" dirty="0" err="1"/>
              <a:t>mockList.get</a:t>
            </a:r>
            <a:r>
              <a:rPr lang="en-IN" dirty="0"/>
              <a:t>(</a:t>
            </a:r>
            <a:r>
              <a:rPr lang="en-IN" dirty="0" err="1"/>
              <a:t>anyInt</a:t>
            </a:r>
            <a:r>
              <a:rPr lang="en-IN" dirty="0"/>
              <a:t>())).</a:t>
            </a:r>
            <a:r>
              <a:rPr lang="en-IN" dirty="0" err="1"/>
              <a:t>thenThrow</a:t>
            </a:r>
            <a:r>
              <a:rPr lang="en-IN" dirty="0"/>
              <a:t>(</a:t>
            </a:r>
            <a:r>
              <a:rPr lang="en-IN" b="1" dirty="0" err="1"/>
              <a:t>new</a:t>
            </a:r>
            <a:r>
              <a:rPr lang="en-IN" dirty="0" err="1"/>
              <a:t>RuntimeException</a:t>
            </a:r>
            <a:r>
              <a:rPr lang="en-IN" dirty="0"/>
              <a:t>("Error"));</a:t>
            </a:r>
          </a:p>
          <a:p>
            <a:pPr marL="0" indent="0" fontAlgn="base">
              <a:buNone/>
            </a:pPr>
            <a:endParaRPr lang="en-IN" dirty="0"/>
          </a:p>
          <a:p>
            <a:pPr fontAlgn="base"/>
            <a:r>
              <a:rPr lang="en-IN" b="1" dirty="0"/>
              <a:t>verify() : </a:t>
            </a:r>
            <a:r>
              <a:rPr lang="en-IN" dirty="0"/>
              <a:t>Used to verify that certain methods were called.</a:t>
            </a:r>
          </a:p>
          <a:p>
            <a:pPr marL="0" indent="0" fontAlgn="base">
              <a:buNone/>
            </a:pPr>
            <a:r>
              <a:rPr lang="en-IN" b="1" dirty="0"/>
              <a:t>Example:</a:t>
            </a:r>
          </a:p>
          <a:p>
            <a:pPr marL="0" indent="0" fontAlgn="base">
              <a:buNone/>
            </a:pPr>
            <a:r>
              <a:rPr lang="en-IN" dirty="0"/>
              <a:t>verify(</a:t>
            </a:r>
            <a:r>
              <a:rPr lang="en-IN" dirty="0" err="1"/>
              <a:t>mockList</a:t>
            </a:r>
            <a:r>
              <a:rPr lang="en-IN" dirty="0"/>
              <a:t>).add("Element");</a:t>
            </a:r>
          </a:p>
          <a:p>
            <a:pPr marL="0" indent="0" fontAlgn="base">
              <a:buNone/>
            </a:pPr>
            <a:r>
              <a:rPr lang="en-IN" dirty="0"/>
              <a:t>verify(</a:t>
            </a:r>
            <a:r>
              <a:rPr lang="en-IN" dirty="0" err="1"/>
              <a:t>mockList</a:t>
            </a:r>
            <a:r>
              <a:rPr lang="en-IN" dirty="0"/>
              <a:t>, times(2)).size();</a:t>
            </a:r>
          </a:p>
          <a:p>
            <a:pPr marL="0" indent="0" fontAlgn="base">
              <a:buNone/>
            </a:pPr>
            <a:r>
              <a:rPr lang="en-IN" dirty="0"/>
              <a:t>verify(</a:t>
            </a:r>
            <a:r>
              <a:rPr lang="en-IN" dirty="0" err="1"/>
              <a:t>mockList</a:t>
            </a:r>
            <a:r>
              <a:rPr lang="en-IN" dirty="0"/>
              <a:t>, never()).clear();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283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3741C7-AE92-8ABC-01B2-BA3461A57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Integration Testing</a:t>
            </a:r>
          </a:p>
        </p:txBody>
      </p:sp>
    </p:spTree>
    <p:extLst>
      <p:ext uri="{BB962C8B-B14F-4D97-AF65-F5344CB8AC3E}">
        <p14:creationId xmlns:p14="http://schemas.microsoft.com/office/powerpoint/2010/main" val="2641530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140B-6FCE-F251-92AE-8DF2A379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Integration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C2DF8-A5D9-FAA0-2609-825003B26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Integration Testing verifies that </a:t>
            </a:r>
            <a:r>
              <a:rPr lang="en-IN" b="1" dirty="0"/>
              <a:t>multiple layers of an application work together correctly</a:t>
            </a:r>
            <a:r>
              <a:rPr lang="en-IN" dirty="0"/>
              <a:t>.</a:t>
            </a:r>
          </a:p>
          <a:p>
            <a:r>
              <a:rPr lang="en-IN" dirty="0"/>
              <a:t>Unlike Unit Testing (where dependencies are mocked), Integration Testing uses the </a:t>
            </a:r>
            <a:r>
              <a:rPr lang="en-IN" b="1" dirty="0"/>
              <a:t>actual Spring Boot components</a:t>
            </a:r>
            <a:r>
              <a:rPr lang="en-IN" dirty="0"/>
              <a:t>.</a:t>
            </a:r>
          </a:p>
          <a:p>
            <a:endParaRPr lang="en-IN" dirty="0"/>
          </a:p>
          <a:p>
            <a:pPr>
              <a:buNone/>
            </a:pPr>
            <a:r>
              <a:rPr lang="en-IN" dirty="0"/>
              <a:t>For our Employee project, an integration test verifies: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Controller → 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Service → Repository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Repository → Oracle Database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Entity Mapping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Transactions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4808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36B8-08E9-388B-662F-8143D450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Unit Test vs Integration Test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1B4F165-93B3-7EC4-59D0-9A8901BCB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1222592"/>
              </p:ext>
            </p:extLst>
          </p:nvPr>
        </p:nvGraphicFramePr>
        <p:xfrm>
          <a:off x="838200" y="2004237"/>
          <a:ext cx="10515600" cy="3460096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824447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908155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89476439"/>
                    </a:ext>
                  </a:extLst>
                </a:gridCol>
              </a:tblGrid>
              <a:tr h="43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Unit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Integration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885101"/>
                  </a:ext>
                </a:extLst>
              </a:tr>
              <a:tr h="43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524726"/>
                  </a:ext>
                </a:extLst>
              </a:tr>
              <a:tr h="43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Repository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729602"/>
                  </a:ext>
                </a:extLst>
              </a:tr>
              <a:tr h="43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Oracle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1023"/>
                  </a:ext>
                </a:extLst>
              </a:tr>
              <a:tr h="43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157200"/>
                  </a:ext>
                </a:extLst>
              </a:tr>
              <a:tr h="43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Entity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366386"/>
                  </a:ext>
                </a:extLst>
              </a:tr>
              <a:tr h="43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962352"/>
                  </a:ext>
                </a:extLst>
              </a:tr>
              <a:tr h="432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Transaction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515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124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81C9-7530-32D6-E29C-E702C460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Testing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EE1C6-70B6-7A1D-EFE9-64D6FE2A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 JUnit 5 </a:t>
            </a:r>
          </a:p>
          <a:p>
            <a:pPr marL="0" indent="0">
              <a:buNone/>
            </a:pPr>
            <a:r>
              <a:rPr lang="en-IN" dirty="0"/>
              <a:t>     │ </a:t>
            </a:r>
          </a:p>
          <a:p>
            <a:pPr marL="0" indent="0">
              <a:buNone/>
            </a:pPr>
            <a:r>
              <a:rPr lang="en-IN" dirty="0"/>
              <a:t>    ▼ </a:t>
            </a:r>
          </a:p>
          <a:p>
            <a:pPr marL="0" indent="0">
              <a:buNone/>
            </a:pPr>
            <a:r>
              <a:rPr lang="en-IN" dirty="0"/>
              <a:t>@DataJpaTest  </a:t>
            </a:r>
          </a:p>
          <a:p>
            <a:pPr marL="0" indent="0">
              <a:buNone/>
            </a:pPr>
            <a:r>
              <a:rPr lang="en-IN" dirty="0"/>
              <a:t>     │ </a:t>
            </a:r>
          </a:p>
          <a:p>
            <a:pPr marL="0" indent="0">
              <a:buNone/>
            </a:pPr>
            <a:r>
              <a:rPr lang="en-IN" dirty="0"/>
              <a:t>Spring Test Context  </a:t>
            </a:r>
          </a:p>
          <a:p>
            <a:pPr marL="0" indent="0">
              <a:buNone/>
            </a:pPr>
            <a:r>
              <a:rPr lang="en-IN" dirty="0"/>
              <a:t>     │ </a:t>
            </a:r>
          </a:p>
          <a:p>
            <a:pPr marL="0" indent="0">
              <a:buNone/>
            </a:pPr>
            <a:r>
              <a:rPr lang="en-IN" dirty="0"/>
              <a:t>Hibernate ORM </a:t>
            </a:r>
          </a:p>
          <a:p>
            <a:pPr marL="0" indent="0">
              <a:buNone/>
            </a:pPr>
            <a:r>
              <a:rPr lang="en-IN" dirty="0"/>
              <a:t>     │ </a:t>
            </a:r>
          </a:p>
          <a:p>
            <a:pPr marL="0" indent="0">
              <a:buNone/>
            </a:pPr>
            <a:r>
              <a:rPr lang="en-IN" dirty="0" err="1"/>
              <a:t>EmployeeRepository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│ </a:t>
            </a:r>
          </a:p>
          <a:p>
            <a:pPr marL="0" indent="0">
              <a:buNone/>
            </a:pPr>
            <a:r>
              <a:rPr lang="en-IN" dirty="0"/>
              <a:t>Oracle Database</a:t>
            </a:r>
          </a:p>
        </p:txBody>
      </p:sp>
    </p:spTree>
    <p:extLst>
      <p:ext uri="{BB962C8B-B14F-4D97-AF65-F5344CB8AC3E}">
        <p14:creationId xmlns:p14="http://schemas.microsoft.com/office/powerpoint/2010/main" val="210654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F23D-E0B6-2AD3-72F6-2FA7DFC0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Integration Testing in Spring Boot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C5C2E9A-15D6-E52C-70E8-26A689FD9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517569"/>
              </p:ext>
            </p:extLst>
          </p:nvPr>
        </p:nvGraphicFramePr>
        <p:xfrm>
          <a:off x="838200" y="2410418"/>
          <a:ext cx="10515600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322401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19212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Annotation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57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@DataJpaTest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Repository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199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@SpringBootTest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Complete Application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769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@WebMvcTest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Controller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@AutoConfigurationMockMvc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Rest API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013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822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0B83D-8F00-A84B-563F-5C6A3764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@DataJpaTest?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FB8E-0878-8A0C-4326-B2391C32E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609"/>
            <a:ext cx="10515600" cy="5020266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@DataJpaTest</a:t>
            </a:r>
            <a:r>
              <a:rPr lang="en-IN" dirty="0"/>
              <a:t> loads only the persistence layer.</a:t>
            </a:r>
          </a:p>
          <a:p>
            <a:r>
              <a:rPr lang="en-IN" dirty="0"/>
              <a:t>It creates:</a:t>
            </a:r>
          </a:p>
          <a:p>
            <a:r>
              <a:rPr lang="en-IN" dirty="0" err="1"/>
              <a:t>DataSource</a:t>
            </a:r>
            <a:r>
              <a:rPr lang="en-IN" dirty="0"/>
              <a:t> </a:t>
            </a:r>
          </a:p>
          <a:p>
            <a:r>
              <a:rPr lang="en-IN" dirty="0" err="1"/>
              <a:t>EntityManager</a:t>
            </a:r>
            <a:r>
              <a:rPr lang="en-IN" dirty="0"/>
              <a:t> </a:t>
            </a:r>
          </a:p>
          <a:p>
            <a:r>
              <a:rPr lang="en-IN" dirty="0"/>
              <a:t>Hibernate </a:t>
            </a:r>
          </a:p>
          <a:p>
            <a:r>
              <a:rPr lang="en-IN" dirty="0"/>
              <a:t>Repository Beans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It </a:t>
            </a:r>
            <a:r>
              <a:rPr lang="en-IN" b="1" dirty="0"/>
              <a:t>does not</a:t>
            </a:r>
            <a:r>
              <a:rPr lang="en-IN" dirty="0"/>
              <a:t> load:</a:t>
            </a:r>
          </a:p>
          <a:p>
            <a:r>
              <a:rPr lang="en-IN" dirty="0"/>
              <a:t>Controllers </a:t>
            </a:r>
          </a:p>
          <a:p>
            <a:r>
              <a:rPr lang="en-IN" dirty="0"/>
              <a:t>Services </a:t>
            </a:r>
          </a:p>
          <a:p>
            <a:r>
              <a:rPr lang="en-IN" dirty="0"/>
              <a:t>Security </a:t>
            </a:r>
          </a:p>
          <a:p>
            <a:r>
              <a:rPr lang="en-IN" dirty="0"/>
              <a:t>REST APIs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This makes repository tests much faster than loading the complete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084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5F02-6F33-7200-9AFA-2962510F7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Oracle Instead of H2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0A84-B4CE-07EA-082B-5A011FC9E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65" y="1825625"/>
            <a:ext cx="10914321" cy="435133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By default, @DataJpaTest tries to replace your </a:t>
            </a:r>
            <a:r>
              <a:rPr lang="en-IN" dirty="0" err="1"/>
              <a:t>datasource</a:t>
            </a:r>
            <a:r>
              <a:rPr lang="en-IN" dirty="0"/>
              <a:t> with an embedded database (H2/HSQL/Derby).</a:t>
            </a:r>
          </a:p>
          <a:p>
            <a:r>
              <a:rPr lang="en-IN" dirty="0"/>
              <a:t>Since our project uses </a:t>
            </a:r>
            <a:r>
              <a:rPr lang="en-IN" b="1" dirty="0"/>
              <a:t>Oracle</a:t>
            </a:r>
            <a:r>
              <a:rPr lang="en-IN" dirty="0"/>
              <a:t>, we must prevent that.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chemeClr val="accent3"/>
                </a:solidFill>
              </a:rPr>
              <a:t>@DataJpaTest </a:t>
            </a:r>
            <a:br>
              <a:rPr lang="en-IN" sz="1800" b="1" dirty="0">
                <a:solidFill>
                  <a:schemeClr val="accent3"/>
                </a:solidFill>
              </a:rPr>
            </a:br>
            <a:r>
              <a:rPr lang="en-IN" sz="1800" b="1" dirty="0">
                <a:solidFill>
                  <a:schemeClr val="accent3"/>
                </a:solidFill>
              </a:rPr>
              <a:t>@ContextConfiguration( classes = </a:t>
            </a:r>
            <a:r>
              <a:rPr lang="en-IN" sz="1800" b="1" dirty="0" err="1">
                <a:solidFill>
                  <a:schemeClr val="accent3"/>
                </a:solidFill>
              </a:rPr>
              <a:t>SpringbootRestApiEmployeeProjectApplication.class</a:t>
            </a:r>
            <a:r>
              <a:rPr lang="en-IN" sz="1800" b="1" dirty="0">
                <a:solidFill>
                  <a:schemeClr val="accent3"/>
                </a:solidFill>
              </a:rPr>
              <a:t>)</a:t>
            </a:r>
            <a:r>
              <a:rPr lang="en-IN" sz="1800" dirty="0">
                <a:solidFill>
                  <a:schemeClr val="accent3"/>
                </a:solidFill>
              </a:rPr>
              <a:t> </a:t>
            </a:r>
            <a:r>
              <a:rPr lang="en-IN" sz="2000" b="1" dirty="0">
                <a:solidFill>
                  <a:schemeClr val="accent3"/>
                </a:solidFill>
              </a:rPr>
              <a:t>@AutoConfigureTestDatabase( replace = </a:t>
            </a:r>
            <a:r>
              <a:rPr lang="en-IN" sz="2000" b="1" dirty="0" err="1">
                <a:solidFill>
                  <a:schemeClr val="accent3"/>
                </a:solidFill>
              </a:rPr>
              <a:t>AutoConfigureTestDatabase.</a:t>
            </a:r>
            <a:r>
              <a:rPr lang="en-IN" sz="2000" b="1" dirty="0" err="1">
                <a:solidFill>
                  <a:srgbClr val="FF0000"/>
                </a:solidFill>
              </a:rPr>
              <a:t>Replace.NONE</a:t>
            </a:r>
            <a:r>
              <a:rPr lang="en-IN" sz="2000" b="1" dirty="0">
                <a:solidFill>
                  <a:schemeClr val="accent3"/>
                </a:solidFill>
              </a:rPr>
              <a:t>)</a:t>
            </a:r>
            <a:r>
              <a:rPr lang="en-IN" sz="2000" dirty="0">
                <a:solidFill>
                  <a:schemeClr val="accent3"/>
                </a:solidFill>
              </a:rPr>
              <a:t> </a:t>
            </a:r>
            <a:br>
              <a:rPr lang="en-IN" dirty="0"/>
            </a:br>
            <a:r>
              <a:rPr lang="en-IN" dirty="0"/>
              <a:t>public class </a:t>
            </a:r>
            <a:r>
              <a:rPr lang="en-IN" dirty="0" err="1"/>
              <a:t>EmployeeRepositoryTest</a:t>
            </a:r>
            <a:r>
              <a:rPr lang="en-IN" dirty="0"/>
              <a:t> { 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 err="1"/>
              <a:t>Replace.NONE</a:t>
            </a:r>
            <a:r>
              <a:rPr lang="en-IN" dirty="0"/>
              <a:t> tells Spring Boot: Use the Oracle </a:t>
            </a:r>
            <a:r>
              <a:rPr lang="en-IN" dirty="0" err="1"/>
              <a:t>datasource</a:t>
            </a:r>
            <a:r>
              <a:rPr lang="en-IN" dirty="0"/>
              <a:t> configured in </a:t>
            </a:r>
            <a:r>
              <a:rPr lang="en-IN" dirty="0" err="1"/>
              <a:t>application.properties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372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0A9C5-1BC8-D694-AAFA-51DBD22D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 Behaviour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AA3C9-0D30-6EA3-D259-2FDCEDC54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90115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dirty="0"/>
              <a:t>Every </a:t>
            </a:r>
            <a:r>
              <a:rPr lang="en-IN" dirty="0">
                <a:latin typeface="Courier New" panose="02070309020205020404" pitchFamily="49" charset="0"/>
              </a:rPr>
              <a:t>@DataJpaTest</a:t>
            </a:r>
            <a:r>
              <a:rPr lang="en-IN" dirty="0"/>
              <a:t> runs inside a transaction.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Test Starts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BEGIN TRANSACTION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Save Employee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Execute Assertions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ROLLBACK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After the test completes, all inserted records are rolled back automatically, keeping the database clean.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515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F613-2791-336E-A808-F5FE3F02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Validation During Integration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46DA6-3851-B3CF-795E-2E87FC751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Unlike unit tests, repository integration tests execute Hibernate Bean Validation.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sz="2200" dirty="0"/>
              <a:t>@Min(value = 10000, message = "Salary must be greater than or equal 10000")</a:t>
            </a:r>
          </a:p>
          <a:p>
            <a:pPr marL="0" indent="0">
              <a:buNone/>
            </a:pPr>
            <a:r>
              <a:rPr lang="en-IN" dirty="0"/>
              <a:t>private Double </a:t>
            </a:r>
            <a:r>
              <a:rPr lang="en-IN" dirty="0" err="1"/>
              <a:t>empBasicSalary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a test saves:</a:t>
            </a:r>
          </a:p>
          <a:p>
            <a:pPr marL="457200" lvl="1" indent="0">
              <a:buNone/>
            </a:pPr>
            <a:r>
              <a:rPr lang="en-IN" dirty="0" err="1"/>
              <a:t>employee.setEmpBasicSalary</a:t>
            </a:r>
            <a:r>
              <a:rPr lang="en-IN" dirty="0"/>
              <a:t>(5000);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Hibernate throws:</a:t>
            </a:r>
          </a:p>
          <a:p>
            <a:pPr marL="457200" lvl="1" indent="0">
              <a:buNone/>
            </a:pPr>
            <a:r>
              <a:rPr lang="en-IN" dirty="0" err="1"/>
              <a:t>ConstraintViolationException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This confirms that validation is working correctly.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422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117D-3BE4-951B-2A52-E0D1E956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@SpringBootTest?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D0BED-8DE7-B12A-5E74-0E51B3557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035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@SpringBootTest</a:t>
            </a:r>
            <a:r>
              <a:rPr lang="en-IN" dirty="0"/>
              <a:t> loads the </a:t>
            </a:r>
            <a:r>
              <a:rPr lang="en-IN" b="1" dirty="0"/>
              <a:t>entire Spring Boot application context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It creates all Spring-managed beans exactly as they are created when the application starts.</a:t>
            </a:r>
          </a:p>
          <a:p>
            <a:pPr>
              <a:buNone/>
            </a:pPr>
            <a:r>
              <a:rPr lang="en-IN" dirty="0"/>
              <a:t>It loads: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Controllers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Repositories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EntityManager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Datasource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Hibernate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Configuration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Security (if present)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Actuator (if present)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It is the closest thing to running the real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917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9DBFE-8B70-27BB-3411-D23355E2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B23DC-48DB-2681-EAC0-775186092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                                  JUnit 5 </a:t>
            </a:r>
          </a:p>
          <a:p>
            <a:pPr marL="0" indent="0">
              <a:buNone/>
            </a:pPr>
            <a:r>
              <a:rPr lang="en-IN" dirty="0"/>
              <a:t>                                        │ </a:t>
            </a:r>
          </a:p>
          <a:p>
            <a:pPr marL="0" indent="0">
              <a:buNone/>
            </a:pPr>
            <a:r>
              <a:rPr lang="en-IN" dirty="0"/>
              <a:t>                                       ▼ </a:t>
            </a:r>
          </a:p>
          <a:p>
            <a:pPr marL="0" indent="0">
              <a:buNone/>
            </a:pPr>
            <a:r>
              <a:rPr lang="en-IN" dirty="0"/>
              <a:t>                       @SpringBootTest </a:t>
            </a:r>
          </a:p>
          <a:p>
            <a:pPr marL="0" indent="0">
              <a:buNone/>
            </a:pPr>
            <a:r>
              <a:rPr lang="en-IN" dirty="0"/>
              <a:t>                                         │ </a:t>
            </a:r>
          </a:p>
          <a:p>
            <a:pPr marL="0" indent="0">
              <a:buNone/>
            </a:pPr>
            <a:r>
              <a:rPr lang="en-IN" dirty="0"/>
              <a:t>                      Spring Boot Context</a:t>
            </a:r>
          </a:p>
          <a:p>
            <a:pPr marL="0" indent="0">
              <a:buNone/>
            </a:pPr>
            <a:r>
              <a:rPr lang="en-IN" dirty="0"/>
              <a:t>   	                 │ </a:t>
            </a:r>
          </a:p>
          <a:p>
            <a:pPr marL="0" indent="0">
              <a:buNone/>
            </a:pPr>
            <a:r>
              <a:rPr lang="en-IN" dirty="0"/>
              <a:t>┌───────────────┼────────────────┐ </a:t>
            </a:r>
          </a:p>
          <a:p>
            <a:pPr marL="0" indent="0">
              <a:buNone/>
            </a:pPr>
            <a:r>
              <a:rPr lang="en-IN" dirty="0"/>
              <a:t>│                                      │                                         │ </a:t>
            </a:r>
          </a:p>
          <a:p>
            <a:pPr marL="0" indent="0">
              <a:buNone/>
            </a:pPr>
            <a:r>
              <a:rPr lang="en-IN" dirty="0"/>
              <a:t>▼                                  ▼                                       ▼ </a:t>
            </a:r>
          </a:p>
          <a:p>
            <a:pPr marL="0" indent="0">
              <a:buNone/>
            </a:pPr>
            <a:r>
              <a:rPr lang="en-IN" dirty="0"/>
              <a:t>Controller           Service                              Repository </a:t>
            </a:r>
          </a:p>
          <a:p>
            <a:pPr marL="0" indent="0">
              <a:buNone/>
            </a:pPr>
            <a:r>
              <a:rPr lang="en-IN" dirty="0"/>
              <a:t>                                        │ </a:t>
            </a:r>
          </a:p>
          <a:p>
            <a:pPr marL="0" indent="0">
              <a:buNone/>
            </a:pPr>
            <a:r>
              <a:rPr lang="en-IN" dirty="0"/>
              <a:t>                                       ▼ </a:t>
            </a:r>
          </a:p>
          <a:p>
            <a:pPr marL="0" indent="0">
              <a:buNone/>
            </a:pPr>
            <a:r>
              <a:rPr lang="en-IN" dirty="0"/>
              <a:t>                       Oracle Database</a:t>
            </a:r>
          </a:p>
        </p:txBody>
      </p:sp>
    </p:spTree>
    <p:extLst>
      <p:ext uri="{BB962C8B-B14F-4D97-AF65-F5344CB8AC3E}">
        <p14:creationId xmlns:p14="http://schemas.microsoft.com/office/powerpoint/2010/main" val="2865964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2079-2CC4-3972-EC41-6909F822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D81E85-A703-A7CA-7757-5186BE85D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81163"/>
            <a:ext cx="10324398" cy="4811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@SpringBootTest( classes = </a:t>
            </a:r>
            <a:r>
              <a:rPr lang="en-IN" sz="1600" dirty="0" err="1"/>
              <a:t>SpringbootRestApiEmployeeProjectApplication.class</a:t>
            </a:r>
            <a:r>
              <a:rPr lang="en-IN" sz="1600" dirty="0"/>
              <a:t>)</a:t>
            </a:r>
          </a:p>
          <a:p>
            <a:pPr marL="0" indent="0">
              <a:buNone/>
            </a:pPr>
            <a:r>
              <a:rPr lang="en-IN" sz="1600" dirty="0"/>
              <a:t> public class </a:t>
            </a:r>
            <a:r>
              <a:rPr lang="en-IN" sz="1600" dirty="0" err="1"/>
              <a:t>EmployeeServiceIntegrationTest</a:t>
            </a:r>
            <a:r>
              <a:rPr lang="en-IN" sz="1600" dirty="0"/>
              <a:t> {</a:t>
            </a:r>
          </a:p>
          <a:p>
            <a:pPr marL="0" indent="0">
              <a:buNone/>
            </a:pPr>
            <a:r>
              <a:rPr lang="en-IN" sz="1600" dirty="0"/>
              <a:t> @Autowired </a:t>
            </a:r>
            <a:br>
              <a:rPr lang="en-IN" sz="1600" dirty="0"/>
            </a:br>
            <a:r>
              <a:rPr lang="en-IN" sz="1600" dirty="0"/>
              <a:t>private </a:t>
            </a:r>
            <a:r>
              <a:rPr lang="en-IN" sz="1600" dirty="0" err="1"/>
              <a:t>EmployeeRepository</a:t>
            </a:r>
            <a:r>
              <a:rPr lang="en-IN" sz="1600" dirty="0"/>
              <a:t> repository;</a:t>
            </a:r>
            <a:br>
              <a:rPr lang="en-IN" sz="1600" dirty="0"/>
            </a:br>
            <a:endParaRPr lang="en-IN" sz="1600" dirty="0"/>
          </a:p>
          <a:p>
            <a:pPr marL="0" indent="0">
              <a:buNone/>
            </a:pPr>
            <a:r>
              <a:rPr lang="en-IN" sz="1600" dirty="0"/>
              <a:t> @Test </a:t>
            </a:r>
            <a:br>
              <a:rPr lang="en-IN" sz="1600" dirty="0"/>
            </a:br>
            <a:r>
              <a:rPr lang="en-IN" sz="1600" dirty="0"/>
              <a:t>@DisplayName("Save Employee Using Complete Spring Context") </a:t>
            </a:r>
            <a:br>
              <a:rPr lang="en-IN" sz="1600" dirty="0"/>
            </a:br>
            <a:r>
              <a:rPr lang="en-IN" sz="1600" dirty="0"/>
              <a:t>void </a:t>
            </a:r>
            <a:r>
              <a:rPr lang="en-IN" sz="1600" dirty="0" err="1"/>
              <a:t>testSaveEmployee</a:t>
            </a:r>
            <a:r>
              <a:rPr lang="en-IN" sz="1600" dirty="0"/>
              <a:t>() { </a:t>
            </a:r>
            <a:br>
              <a:rPr lang="en-IN" sz="1600" dirty="0"/>
            </a:br>
            <a:endParaRPr lang="en-IN" sz="1600" dirty="0"/>
          </a:p>
          <a:p>
            <a:pPr marL="0" indent="0">
              <a:buNone/>
            </a:pPr>
            <a:r>
              <a:rPr lang="en-IN" sz="1600" dirty="0"/>
              <a:t>Employee </a:t>
            </a:r>
            <a:r>
              <a:rPr lang="en-IN" sz="1600" dirty="0" err="1"/>
              <a:t>employee</a:t>
            </a:r>
            <a:r>
              <a:rPr lang="en-IN" sz="1600" dirty="0"/>
              <a:t> = new Employee(); </a:t>
            </a:r>
          </a:p>
          <a:p>
            <a:pPr marL="0" indent="0">
              <a:buNone/>
            </a:pPr>
            <a:r>
              <a:rPr lang="en-IN" sz="1600" dirty="0" err="1"/>
              <a:t>employee.setEmpName</a:t>
            </a:r>
            <a:r>
              <a:rPr lang="en-IN" sz="1600" dirty="0"/>
              <a:t>("Rahul"); </a:t>
            </a:r>
            <a:r>
              <a:rPr lang="en-IN" sz="1600" dirty="0" err="1"/>
              <a:t>employee.setEmpDepartment</a:t>
            </a:r>
            <a:r>
              <a:rPr lang="en-IN" sz="1600" dirty="0"/>
              <a:t>("IT"); </a:t>
            </a:r>
            <a:r>
              <a:rPr lang="en-IN" sz="1600" dirty="0" err="1"/>
              <a:t>employee.setEmpDesignation</a:t>
            </a:r>
            <a:r>
              <a:rPr lang="en-IN" sz="1600" dirty="0"/>
              <a:t>("Developer"); </a:t>
            </a:r>
            <a:r>
              <a:rPr lang="en-IN" sz="1600" dirty="0" err="1"/>
              <a:t>employee.setEmpBasicSalary</a:t>
            </a:r>
            <a:r>
              <a:rPr lang="en-IN" sz="1600" dirty="0"/>
              <a:t>(50000); Employee saved = </a:t>
            </a:r>
            <a:r>
              <a:rPr lang="en-IN" sz="1600" dirty="0" err="1"/>
              <a:t>repository.save</a:t>
            </a:r>
            <a:r>
              <a:rPr lang="en-IN" sz="1600" dirty="0"/>
              <a:t>(employee); Optional&lt;Employee&gt; result = </a:t>
            </a:r>
            <a:r>
              <a:rPr lang="en-IN" sz="1600" dirty="0" err="1"/>
              <a:t>repository.findById</a:t>
            </a:r>
            <a:r>
              <a:rPr lang="en-IN" sz="1600" dirty="0"/>
              <a:t>(</a:t>
            </a:r>
            <a:r>
              <a:rPr lang="en-IN" sz="1600" dirty="0" err="1"/>
              <a:t>saved.getEmpId</a:t>
            </a:r>
            <a:r>
              <a:rPr lang="en-IN" sz="1600" dirty="0"/>
              <a:t>());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600" dirty="0" err="1"/>
              <a:t>assertTrue</a:t>
            </a:r>
            <a:r>
              <a:rPr lang="en-IN" sz="1600" dirty="0"/>
              <a:t>(</a:t>
            </a:r>
            <a:r>
              <a:rPr lang="en-IN" sz="1600" dirty="0" err="1"/>
              <a:t>result.isPresent</a:t>
            </a:r>
            <a:r>
              <a:rPr lang="en-IN" sz="1600" dirty="0"/>
              <a:t>()); </a:t>
            </a:r>
            <a:r>
              <a:rPr lang="en-IN" sz="1600" dirty="0" err="1"/>
              <a:t>assertEquals</a:t>
            </a:r>
            <a:r>
              <a:rPr lang="en-IN" sz="1600" dirty="0"/>
              <a:t>("Rahul", </a:t>
            </a:r>
            <a:r>
              <a:rPr lang="en-IN" sz="1600" dirty="0" err="1"/>
              <a:t>result.get</a:t>
            </a:r>
            <a:r>
              <a:rPr lang="en-IN" sz="1600" dirty="0"/>
              <a:t>().</a:t>
            </a:r>
            <a:r>
              <a:rPr lang="en-IN" sz="1600" dirty="0" err="1"/>
              <a:t>getEmpName</a:t>
            </a:r>
            <a:r>
              <a:rPr lang="en-IN" sz="1600" dirty="0"/>
              <a:t>());</a:t>
            </a:r>
          </a:p>
          <a:p>
            <a:pPr marL="0" indent="0">
              <a:buNone/>
            </a:pPr>
            <a:r>
              <a:rPr lang="en-IN" sz="1600" dirty="0"/>
              <a:t> } 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6648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C946F7-4DB3-DF1B-1D1C-C448FD9F3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4DC92D2-02EB-EDC3-A555-9875D0207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Tests complete application</a:t>
            </a:r>
          </a:p>
          <a:p>
            <a:r>
              <a:rPr lang="en-IN" dirty="0"/>
              <a:t>Uses real Spring beans</a:t>
            </a:r>
          </a:p>
          <a:p>
            <a:r>
              <a:rPr lang="en-IN" dirty="0"/>
              <a:t>Tests transaction management</a:t>
            </a:r>
          </a:p>
          <a:p>
            <a:r>
              <a:rPr lang="en-IN" dirty="0"/>
              <a:t>Tests dependency injection</a:t>
            </a:r>
          </a:p>
          <a:p>
            <a:r>
              <a:rPr lang="en-IN" dirty="0"/>
              <a:t>Tests actual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093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238F-76A2-B09F-2E0D-5BB74F05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2AE59-403D-6158-6860-E349B05F8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Slow</a:t>
            </a:r>
          </a:p>
          <a:p>
            <a:r>
              <a:rPr lang="en-IN" dirty="0"/>
              <a:t>Loads complete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803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4DF6-758B-A9DE-3E96-63717E2F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should we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A09AB-447B-6C0D-FF01-937107A54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@SpringBootTest when you want to verify the interaction between multiple layers (controller, service, repository, etc.) in a real application context.</a:t>
            </a:r>
          </a:p>
        </p:txBody>
      </p:sp>
    </p:spTree>
    <p:extLst>
      <p:ext uri="{BB962C8B-B14F-4D97-AF65-F5344CB8AC3E}">
        <p14:creationId xmlns:p14="http://schemas.microsoft.com/office/powerpoint/2010/main" val="4082061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A89DD-DA27-1793-3989-6995F789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@WebMvcTest?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F48A-E1BD-553C-F63A-BE4A03F1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53651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@WebMvcTest</a:t>
            </a:r>
            <a:r>
              <a:rPr lang="en-IN" dirty="0"/>
              <a:t> loads </a:t>
            </a:r>
            <a:r>
              <a:rPr lang="en-IN" b="1" dirty="0"/>
              <a:t>only the Spring MVC layer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It creates:</a:t>
            </a:r>
          </a:p>
          <a:p>
            <a:pPr>
              <a:buNone/>
            </a:pPr>
            <a:r>
              <a:rPr lang="en-IN" dirty="0"/>
              <a:t>✔ Controller</a:t>
            </a:r>
          </a:p>
          <a:p>
            <a:pPr>
              <a:buNone/>
            </a:pPr>
            <a:r>
              <a:rPr lang="en-IN" dirty="0"/>
              <a:t>✔ </a:t>
            </a:r>
            <a:r>
              <a:rPr lang="en-IN" dirty="0" err="1"/>
              <a:t>DispatcherServlet</a:t>
            </a:r>
            <a:endParaRPr lang="en-IN" dirty="0"/>
          </a:p>
          <a:p>
            <a:pPr>
              <a:buNone/>
            </a:pPr>
            <a:r>
              <a:rPr lang="en-IN" dirty="0"/>
              <a:t>✔ Request Mapping</a:t>
            </a:r>
          </a:p>
          <a:p>
            <a:pPr>
              <a:buNone/>
            </a:pPr>
            <a:r>
              <a:rPr lang="en-IN" dirty="0"/>
              <a:t>✔ Validation</a:t>
            </a:r>
          </a:p>
          <a:p>
            <a:pPr>
              <a:buNone/>
            </a:pPr>
            <a:r>
              <a:rPr lang="en-IN" dirty="0"/>
              <a:t>✔ JSON Serialization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It does </a:t>
            </a:r>
            <a:r>
              <a:rPr lang="en-IN" b="1" dirty="0"/>
              <a:t>NOT</a:t>
            </a:r>
            <a:r>
              <a:rPr lang="en-IN" dirty="0"/>
              <a:t> create:</a:t>
            </a:r>
          </a:p>
          <a:p>
            <a:pPr>
              <a:buNone/>
            </a:pPr>
            <a:r>
              <a:rPr lang="en-IN" dirty="0"/>
              <a:t>✘ Repository</a:t>
            </a:r>
          </a:p>
          <a:p>
            <a:pPr>
              <a:buNone/>
            </a:pPr>
            <a:r>
              <a:rPr lang="en-IN" dirty="0"/>
              <a:t>✘ Service</a:t>
            </a:r>
          </a:p>
          <a:p>
            <a:pPr>
              <a:buNone/>
            </a:pPr>
            <a:r>
              <a:rPr lang="en-IN" dirty="0"/>
              <a:t>✘ </a:t>
            </a:r>
            <a:r>
              <a:rPr lang="en-IN" dirty="0" err="1"/>
              <a:t>Datasource</a:t>
            </a:r>
            <a:endParaRPr lang="en-IN" dirty="0"/>
          </a:p>
          <a:p>
            <a:pPr>
              <a:buNone/>
            </a:pPr>
            <a:r>
              <a:rPr lang="en-IN" dirty="0"/>
              <a:t>✘ Hibernate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59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F29CF-D2F4-A6FC-2E27-D11EDE66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6A32E-F208-C5E6-51C1-0FD380E04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967" y="1825625"/>
            <a:ext cx="3592034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JUnit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@WebMvcTest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 err="1"/>
              <a:t>DispatcherServlet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 err="1"/>
              <a:t>EmployeeController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 err="1"/>
              <a:t>MockMvc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JSON Response</a:t>
            </a:r>
          </a:p>
        </p:txBody>
      </p:sp>
    </p:spTree>
    <p:extLst>
      <p:ext uri="{BB962C8B-B14F-4D97-AF65-F5344CB8AC3E}">
        <p14:creationId xmlns:p14="http://schemas.microsoft.com/office/powerpoint/2010/main" val="2218294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EE73-0F09-F297-AB08-BB846114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Mock the Service?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77CBB-AD83-EE32-277C-F4B7EF802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Since the Service layer is not loaded, we use @MockBean to provide a mock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6585265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BCD88-C319-93AD-BAC0-2E100246B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A1FCD-FFF5-D5D2-7822-E321024FB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752" y="2232081"/>
            <a:ext cx="4688959" cy="442465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@WebMvcTest(EmployeeApi.</a:t>
            </a:r>
            <a:r>
              <a:rPr lang="en-IN" b="1" dirty="0"/>
              <a:t>class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</a:t>
            </a:r>
            <a:r>
              <a:rPr lang="en-IN" dirty="0" err="1"/>
              <a:t>EmployeeApiTest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@Autowired</a:t>
            </a:r>
          </a:p>
          <a:p>
            <a:pPr marL="0" indent="0">
              <a:buNone/>
            </a:pPr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dirty="0" err="1"/>
              <a:t>MockMvc</a:t>
            </a:r>
            <a:r>
              <a:rPr lang="en-IN" dirty="0"/>
              <a:t> </a:t>
            </a:r>
            <a:r>
              <a:rPr lang="en-IN" dirty="0" err="1"/>
              <a:t>mockMvc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@MockitoBean</a:t>
            </a:r>
            <a:br>
              <a:rPr lang="en-IN" dirty="0"/>
            </a:br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dirty="0" err="1"/>
              <a:t>EmployeeService</a:t>
            </a:r>
            <a:r>
              <a:rPr lang="en-IN" dirty="0"/>
              <a:t> </a:t>
            </a:r>
            <a:r>
              <a:rPr lang="en-IN" dirty="0" err="1"/>
              <a:t>employeeService</a:t>
            </a:r>
            <a:r>
              <a:rPr lang="en-IN" dirty="0"/>
              <a:t>;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@Test</a:t>
            </a:r>
            <a:br>
              <a:rPr lang="en-IN" dirty="0"/>
            </a:br>
            <a:r>
              <a:rPr lang="en-IN" b="1" dirty="0"/>
              <a:t>void</a:t>
            </a:r>
            <a:r>
              <a:rPr lang="en-IN" dirty="0"/>
              <a:t> </a:t>
            </a:r>
            <a:r>
              <a:rPr lang="en-IN" dirty="0" err="1"/>
              <a:t>testGetAllEmployees</a:t>
            </a:r>
            <a:r>
              <a:rPr lang="en-IN" dirty="0"/>
              <a:t>() </a:t>
            </a:r>
            <a:r>
              <a:rPr lang="en-IN" b="1" dirty="0"/>
              <a:t>throws</a:t>
            </a:r>
            <a:r>
              <a:rPr lang="en-IN" dirty="0"/>
              <a:t> Exception {</a:t>
            </a:r>
          </a:p>
          <a:p>
            <a:pPr marL="0" indent="0">
              <a:buNone/>
            </a:pPr>
            <a:r>
              <a:rPr lang="en-IN" dirty="0"/>
              <a:t>Employee </a:t>
            </a:r>
            <a:r>
              <a:rPr lang="en-IN" dirty="0" err="1"/>
              <a:t>employee</a:t>
            </a:r>
            <a:r>
              <a:rPr lang="en-IN" dirty="0"/>
              <a:t> = </a:t>
            </a:r>
            <a:r>
              <a:rPr lang="en-IN" b="1" dirty="0"/>
              <a:t>new</a:t>
            </a:r>
            <a:r>
              <a:rPr lang="en-IN" dirty="0"/>
              <a:t> Employee();</a:t>
            </a:r>
          </a:p>
          <a:p>
            <a:pPr marL="0" indent="0">
              <a:buNone/>
            </a:pPr>
            <a:r>
              <a:rPr lang="en-IN" dirty="0" err="1"/>
              <a:t>employee.setEmpId</a:t>
            </a:r>
            <a:r>
              <a:rPr lang="en-IN" dirty="0"/>
              <a:t>(1);</a:t>
            </a:r>
          </a:p>
          <a:p>
            <a:pPr marL="0" indent="0">
              <a:buNone/>
            </a:pPr>
            <a:r>
              <a:rPr lang="en-IN" dirty="0" err="1"/>
              <a:t>employee.setEmpName</a:t>
            </a:r>
            <a:r>
              <a:rPr lang="en-IN" dirty="0"/>
              <a:t>("Rahul");</a:t>
            </a:r>
          </a:p>
          <a:p>
            <a:pPr marL="0" indent="0">
              <a:buNone/>
            </a:pPr>
            <a:r>
              <a:rPr lang="en-IN" dirty="0" err="1"/>
              <a:t>employee.setEmpDepartment</a:t>
            </a:r>
            <a:r>
              <a:rPr lang="en-IN" dirty="0"/>
              <a:t>("IT");</a:t>
            </a:r>
          </a:p>
          <a:p>
            <a:pPr marL="0" indent="0">
              <a:buNone/>
            </a:pPr>
            <a:r>
              <a:rPr lang="en-IN" dirty="0" err="1"/>
              <a:t>employee.setEmpDesignation</a:t>
            </a:r>
            <a:r>
              <a:rPr lang="en-IN" dirty="0"/>
              <a:t>("Developer");</a:t>
            </a:r>
          </a:p>
          <a:p>
            <a:pPr marL="0" indent="0">
              <a:buNone/>
            </a:pPr>
            <a:r>
              <a:rPr lang="en-IN" dirty="0" err="1"/>
              <a:t>employee.setEmpBasicSalary</a:t>
            </a:r>
            <a:r>
              <a:rPr lang="en-IN" dirty="0"/>
              <a:t>(45000);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CC57F0-5C57-5BB3-5EF7-8705156CC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16279" y="2679405"/>
            <a:ext cx="6602819" cy="351025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i="1" dirty="0"/>
              <a:t>when</a:t>
            </a:r>
            <a:r>
              <a:rPr lang="en-IN" dirty="0"/>
              <a:t>(</a:t>
            </a:r>
            <a:r>
              <a:rPr lang="en-IN" dirty="0" err="1"/>
              <a:t>employeeService.getAllEmployees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.</a:t>
            </a:r>
            <a:r>
              <a:rPr lang="en-IN" dirty="0" err="1"/>
              <a:t>thenReturn</a:t>
            </a:r>
            <a:r>
              <a:rPr lang="en-IN" dirty="0"/>
              <a:t>(</a:t>
            </a:r>
            <a:r>
              <a:rPr lang="en-IN" dirty="0" err="1"/>
              <a:t>List.</a:t>
            </a:r>
            <a:r>
              <a:rPr lang="en-IN" i="1" dirty="0" err="1"/>
              <a:t>of</a:t>
            </a:r>
            <a:r>
              <a:rPr lang="en-IN" dirty="0"/>
              <a:t>(employee));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 err="1"/>
              <a:t>mockMvc.perform</a:t>
            </a:r>
            <a:r>
              <a:rPr lang="en-IN" dirty="0"/>
              <a:t>(</a:t>
            </a:r>
            <a:r>
              <a:rPr lang="en-IN" i="1" dirty="0"/>
              <a:t>get</a:t>
            </a:r>
            <a:r>
              <a:rPr lang="en-IN" dirty="0"/>
              <a:t>("/employees"))</a:t>
            </a:r>
          </a:p>
          <a:p>
            <a:pPr marL="0" indent="0">
              <a:buNone/>
            </a:pPr>
            <a:r>
              <a:rPr lang="en-IN" dirty="0"/>
              <a:t>.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i="1" dirty="0"/>
              <a:t>status</a:t>
            </a:r>
            <a:r>
              <a:rPr lang="en-IN" dirty="0"/>
              <a:t>().</a:t>
            </a:r>
            <a:r>
              <a:rPr lang="en-IN" dirty="0" err="1"/>
              <a:t>isOk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.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i="1" dirty="0" err="1"/>
              <a:t>jsonPath</a:t>
            </a:r>
            <a:r>
              <a:rPr lang="en-IN" dirty="0"/>
              <a:t>("$[0].</a:t>
            </a:r>
            <a:r>
              <a:rPr lang="en-IN" dirty="0" err="1"/>
              <a:t>empId</a:t>
            </a:r>
            <a:r>
              <a:rPr lang="en-IN" dirty="0"/>
              <a:t>").value(1))</a:t>
            </a:r>
          </a:p>
          <a:p>
            <a:pPr marL="0" indent="0">
              <a:buNone/>
            </a:pPr>
            <a:r>
              <a:rPr lang="en-IN" dirty="0"/>
              <a:t>.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i="1" dirty="0" err="1"/>
              <a:t>jsonPath</a:t>
            </a:r>
            <a:r>
              <a:rPr lang="en-IN" dirty="0"/>
              <a:t>("$[0].</a:t>
            </a:r>
            <a:r>
              <a:rPr lang="en-IN" dirty="0" err="1"/>
              <a:t>empName</a:t>
            </a:r>
            <a:r>
              <a:rPr lang="en-IN" dirty="0"/>
              <a:t>").value("Rahul"))</a:t>
            </a:r>
          </a:p>
          <a:p>
            <a:pPr marL="0" indent="0">
              <a:buNone/>
            </a:pPr>
            <a:r>
              <a:rPr lang="en-IN" dirty="0"/>
              <a:t>.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i="1" dirty="0" err="1"/>
              <a:t>jsonPath</a:t>
            </a:r>
            <a:r>
              <a:rPr lang="en-IN" dirty="0"/>
              <a:t>("$[0].</a:t>
            </a:r>
            <a:r>
              <a:rPr lang="en-IN" dirty="0" err="1"/>
              <a:t>empDepartment</a:t>
            </a:r>
            <a:r>
              <a:rPr lang="en-IN" dirty="0"/>
              <a:t>").value("IT"))</a:t>
            </a:r>
          </a:p>
          <a:p>
            <a:pPr marL="0" indent="0">
              <a:buNone/>
            </a:pPr>
            <a:r>
              <a:rPr lang="en-IN" dirty="0"/>
              <a:t>.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i="1" dirty="0" err="1"/>
              <a:t>jsonPath</a:t>
            </a:r>
            <a:r>
              <a:rPr lang="en-IN" dirty="0"/>
              <a:t>("$[0].</a:t>
            </a:r>
            <a:r>
              <a:rPr lang="en-IN" dirty="0" err="1"/>
              <a:t>empDesignation</a:t>
            </a:r>
            <a:r>
              <a:rPr lang="en-IN" dirty="0"/>
              <a:t>").value("Developer"))</a:t>
            </a:r>
          </a:p>
          <a:p>
            <a:pPr marL="0" indent="0">
              <a:buNone/>
            </a:pPr>
            <a:r>
              <a:rPr lang="en-IN" dirty="0"/>
              <a:t>.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i="1" dirty="0" err="1"/>
              <a:t>jsonPath</a:t>
            </a:r>
            <a:r>
              <a:rPr lang="en-IN" dirty="0"/>
              <a:t>("$[0].</a:t>
            </a:r>
            <a:r>
              <a:rPr lang="en-IN" dirty="0" err="1"/>
              <a:t>empBasicSalary</a:t>
            </a:r>
            <a:r>
              <a:rPr lang="en-IN" dirty="0"/>
              <a:t>").value(45000));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023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F09442-2102-E447-311B-598F4391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6AC004-B622-68EC-7011-5949C0BA7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Very Fast</a:t>
            </a:r>
          </a:p>
          <a:p>
            <a:r>
              <a:rPr lang="en-IN" dirty="0"/>
              <a:t>Tests REST APIs</a:t>
            </a:r>
          </a:p>
          <a:p>
            <a:r>
              <a:rPr lang="en-IN" dirty="0"/>
              <a:t>Tests JSON conversion</a:t>
            </a:r>
          </a:p>
          <a:p>
            <a:r>
              <a:rPr lang="en-IN" dirty="0"/>
              <a:t>Tests URL mapping</a:t>
            </a:r>
          </a:p>
          <a:p>
            <a:r>
              <a:rPr lang="en-IN" dirty="0"/>
              <a:t>Tests Validation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6690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E1A9-F0CF-FF06-3A87-3D30235D9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CB90B-D192-83D2-3861-FB62EA78E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Does not test database</a:t>
            </a:r>
          </a:p>
          <a:p>
            <a:r>
              <a:rPr lang="en-IN" dirty="0"/>
              <a:t>Does not test Repository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061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4C65-42C2-0881-7CBA-6AD7AFF7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should we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B0E38-AD9F-43A5-62FD-5BEC57B25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@WebMvcTest when you only want to verify that your controller endpoints, request mappings, validation, and JSON responses work correctly without involving the database.</a:t>
            </a:r>
          </a:p>
        </p:txBody>
      </p:sp>
    </p:spTree>
    <p:extLst>
      <p:ext uri="{BB962C8B-B14F-4D97-AF65-F5344CB8AC3E}">
        <p14:creationId xmlns:p14="http://schemas.microsoft.com/office/powerpoint/2010/main" val="23052457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B931-7EA7-608D-0D64-B8068E6E3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@AutoConfigureMockMvc – REST API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EBB8C-5A64-9857-2D0E-091C7867A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192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What is </a:t>
            </a:r>
            <a:r>
              <a:rPr lang="en-IN" b="1" dirty="0" err="1"/>
              <a:t>MockMvc</a:t>
            </a:r>
            <a:r>
              <a:rPr lang="en-IN" b="1" dirty="0"/>
              <a:t>?</a:t>
            </a:r>
          </a:p>
          <a:p>
            <a:pPr lvl="1"/>
            <a:r>
              <a:rPr lang="en-IN" dirty="0" err="1"/>
              <a:t>MockMvc</a:t>
            </a:r>
            <a:r>
              <a:rPr lang="en-IN" dirty="0"/>
              <a:t> simulates HTTP requests </a:t>
            </a:r>
            <a:r>
              <a:rPr lang="en-IN" b="1" dirty="0"/>
              <a:t>without starting Tomcat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dirty="0"/>
              <a:t>Instead of opening a browser                           </a:t>
            </a:r>
            <a:r>
              <a:rPr lang="en-IN" sz="2000" dirty="0" err="1"/>
              <a:t>MockMvc</a:t>
            </a:r>
            <a:r>
              <a:rPr lang="en-IN" sz="2000" dirty="0"/>
              <a:t> directly invokes the Spring MVC layer:</a:t>
            </a:r>
          </a:p>
          <a:p>
            <a:pPr marL="0" indent="0">
              <a:buNone/>
            </a:pPr>
            <a:r>
              <a:rPr lang="en-IN" dirty="0"/>
              <a:t>           Browser                                        </a:t>
            </a:r>
          </a:p>
          <a:p>
            <a:pPr marL="0" indent="0">
              <a:buNone/>
            </a:pPr>
            <a:r>
              <a:rPr lang="en-IN" dirty="0"/>
              <a:t>                 ↓</a:t>
            </a:r>
          </a:p>
          <a:p>
            <a:pPr marL="0" indent="0">
              <a:buNone/>
            </a:pPr>
            <a:r>
              <a:rPr lang="en-IN" dirty="0"/>
              <a:t>         Tomcat</a:t>
            </a:r>
          </a:p>
          <a:p>
            <a:pPr marL="0" indent="0">
              <a:buNone/>
            </a:pPr>
            <a:r>
              <a:rPr lang="en-IN" dirty="0"/>
              <a:t>                ↓</a:t>
            </a:r>
          </a:p>
          <a:p>
            <a:pPr marL="0" indent="0">
              <a:buNone/>
            </a:pPr>
            <a:r>
              <a:rPr lang="en-IN" dirty="0"/>
              <a:t>       Controller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326402-0AB3-7FEB-3A61-719D84CF2C74}"/>
              </a:ext>
            </a:extLst>
          </p:cNvPr>
          <p:cNvSpPr txBox="1"/>
          <p:nvPr/>
        </p:nvSpPr>
        <p:spPr>
          <a:xfrm>
            <a:off x="6517758" y="3684182"/>
            <a:ext cx="39234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/>
              <a:t>MockMvc</a:t>
            </a:r>
            <a:endParaRPr lang="en-IN" sz="2400" dirty="0"/>
          </a:p>
          <a:p>
            <a:r>
              <a:rPr lang="en-IN" sz="2400" dirty="0"/>
              <a:t>       ↓</a:t>
            </a:r>
          </a:p>
          <a:p>
            <a:r>
              <a:rPr lang="en-IN" sz="2400" dirty="0" err="1"/>
              <a:t>DispatcherServlet</a:t>
            </a:r>
            <a:endParaRPr lang="en-IN" sz="2400" dirty="0"/>
          </a:p>
          <a:p>
            <a:r>
              <a:rPr lang="en-IN" sz="2400" dirty="0"/>
              <a:t>        ↓</a:t>
            </a:r>
          </a:p>
          <a:p>
            <a:r>
              <a:rPr lang="en-IN" sz="2400" dirty="0"/>
              <a:t>Controller</a:t>
            </a:r>
          </a:p>
          <a:p>
            <a:r>
              <a:rPr lang="en-IN" sz="2400" dirty="0"/>
              <a:t>         ↓</a:t>
            </a:r>
          </a:p>
          <a:p>
            <a:r>
              <a:rPr lang="en-IN" sz="2400" dirty="0"/>
              <a:t>Response</a:t>
            </a:r>
            <a:endParaRPr lang="en-IN" sz="16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2C6DF8-9110-C8F8-0AF8-3EFA4C161325}"/>
              </a:ext>
            </a:extLst>
          </p:cNvPr>
          <p:cNvCxnSpPr/>
          <p:nvPr/>
        </p:nvCxnSpPr>
        <p:spPr>
          <a:xfrm>
            <a:off x="4726172" y="3110023"/>
            <a:ext cx="0" cy="34077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035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CD43-9564-F943-3023-36AE78A9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B8043B-D037-CB98-DCF2-0592D8D7D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520456"/>
            <a:ext cx="10106431" cy="466920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@SpringBootTest(classes = </a:t>
            </a:r>
            <a:r>
              <a:rPr lang="en-IN" dirty="0" err="1"/>
              <a:t>SpringbootRestApiEmployeeProjectApplication.class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@AutoConfigureMockMvc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EmployeeApiIntegrationTest</a:t>
            </a:r>
            <a:r>
              <a:rPr lang="en-IN" dirty="0"/>
              <a:t>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@Autowired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MockMvc</a:t>
            </a:r>
            <a:r>
              <a:rPr lang="en-IN" dirty="0"/>
              <a:t> </a:t>
            </a:r>
            <a:r>
              <a:rPr lang="en-IN" dirty="0" err="1"/>
              <a:t>mockMvc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@Test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testEmployeeAPI</a:t>
            </a:r>
            <a:r>
              <a:rPr lang="en-IN" dirty="0"/>
              <a:t>() throws Exception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mockMvc.perform</a:t>
            </a:r>
            <a:r>
              <a:rPr lang="en-IN" dirty="0"/>
              <a:t>(get("/employees"))</a:t>
            </a:r>
          </a:p>
          <a:p>
            <a:pPr marL="0" indent="0">
              <a:buNone/>
            </a:pPr>
            <a:r>
              <a:rPr lang="en-IN" dirty="0"/>
              <a:t>                .</a:t>
            </a:r>
            <a:r>
              <a:rPr lang="en-IN" dirty="0" err="1"/>
              <a:t>andExpect</a:t>
            </a:r>
            <a:r>
              <a:rPr lang="en-IN" dirty="0"/>
              <a:t>(status().</a:t>
            </a:r>
            <a:r>
              <a:rPr lang="en-IN" dirty="0" err="1"/>
              <a:t>isOk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                .</a:t>
            </a:r>
            <a:r>
              <a:rPr lang="en-IN" dirty="0" err="1"/>
              <a:t>andExpect</a:t>
            </a:r>
            <a:r>
              <a:rPr lang="en-IN" dirty="0"/>
              <a:t>(content()</a:t>
            </a:r>
          </a:p>
          <a:p>
            <a:pPr marL="0" indent="0">
              <a:buNone/>
            </a:pPr>
            <a:r>
              <a:rPr lang="en-IN" dirty="0"/>
              <a:t>                        .</a:t>
            </a:r>
            <a:r>
              <a:rPr lang="en-IN" dirty="0" err="1"/>
              <a:t>contentTypeCompatibleWith</a:t>
            </a:r>
            <a:r>
              <a:rPr lang="en-IN" dirty="0"/>
              <a:t>("application/</a:t>
            </a:r>
            <a:r>
              <a:rPr lang="en-IN" dirty="0" err="1"/>
              <a:t>json</a:t>
            </a:r>
            <a:r>
              <a:rPr lang="en-IN" dirty="0"/>
              <a:t>"));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17909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6FC758-3759-71E7-980E-F834060D5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Testcontainers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411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055BF-85C2-D8DE-A1FE-64F56C9AD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</a:t>
            </a:r>
            <a:r>
              <a:rPr lang="en-IN" dirty="0" err="1"/>
              <a:t>Testcontainers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9D6AC-E268-3F2C-230D-C73CBD06E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Testcontainers</a:t>
            </a:r>
            <a:r>
              <a:rPr lang="en-IN" dirty="0"/>
              <a:t> is an </a:t>
            </a:r>
            <a:r>
              <a:rPr lang="en-IN" b="1" dirty="0"/>
              <a:t>open-source Java library</a:t>
            </a:r>
            <a:r>
              <a:rPr lang="en-IN" dirty="0"/>
              <a:t> that allows integration tests to run against </a:t>
            </a:r>
            <a:r>
              <a:rPr lang="en-IN" b="1" dirty="0"/>
              <a:t>real services</a:t>
            </a:r>
            <a:r>
              <a:rPr lang="en-IN" dirty="0"/>
              <a:t> (databases, Kafka, Redis, RabbitMQ, Elasticsearch, etc.) inside </a:t>
            </a:r>
            <a:r>
              <a:rPr lang="en-IN" b="1" dirty="0"/>
              <a:t>Docker containers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Instead of mocking a database or depending on a locally installed Oracle/MySQL instance, </a:t>
            </a:r>
            <a:r>
              <a:rPr lang="en-IN" dirty="0" err="1"/>
              <a:t>Testcontainers</a:t>
            </a:r>
            <a:r>
              <a:rPr lang="en-IN" dirty="0"/>
              <a:t> starts a fresh database container automatically for each test suite.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686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0C74-E794-A672-2DB8-0165750E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Testing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B9210-73A2-C9FF-6A82-D0F829A49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Suppose our Employee application uses Oracle.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Developer Machine</a:t>
            </a:r>
          </a:p>
          <a:p>
            <a:pPr marL="0" indent="0">
              <a:buNone/>
            </a:pPr>
            <a:r>
              <a:rPr lang="en-IN" dirty="0"/>
              <a:t>Employee Project</a:t>
            </a:r>
          </a:p>
          <a:p>
            <a:pPr marL="0" indent="0">
              <a:buNone/>
            </a:pPr>
            <a:r>
              <a:rPr lang="en-IN" dirty="0"/>
              <a:t>       │</a:t>
            </a:r>
          </a:p>
          <a:p>
            <a:pPr marL="0" indent="0">
              <a:buNone/>
            </a:pPr>
            <a:r>
              <a:rPr lang="en-IN" dirty="0"/>
              <a:t>      ▼</a:t>
            </a:r>
          </a:p>
          <a:p>
            <a:pPr marL="0" indent="0">
              <a:buNone/>
            </a:pPr>
            <a:r>
              <a:rPr lang="en-IN" dirty="0"/>
              <a:t>Oracle Database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Problems:</a:t>
            </a:r>
          </a:p>
          <a:p>
            <a:r>
              <a:rPr lang="en-IN" dirty="0"/>
              <a:t>Oracle must be installed. </a:t>
            </a:r>
          </a:p>
          <a:p>
            <a:r>
              <a:rPr lang="en-IN" dirty="0"/>
              <a:t>Database must already exist. </a:t>
            </a:r>
          </a:p>
          <a:p>
            <a:r>
              <a:rPr lang="en-IN" dirty="0"/>
              <a:t>Tables must be created. </a:t>
            </a:r>
          </a:p>
          <a:p>
            <a:r>
              <a:rPr lang="en-IN" dirty="0"/>
              <a:t>Test data must be inserted. </a:t>
            </a:r>
          </a:p>
          <a:p>
            <a:r>
              <a:rPr lang="en-IN" dirty="0"/>
              <a:t>Different developers may have different database versions.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512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AA17-F755-5D7D-F007-78A535734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Testcontainers</a:t>
            </a:r>
            <a:r>
              <a:rPr lang="en-IN" dirty="0"/>
              <a:t>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A4485-106C-CB89-66DF-788DB2243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415363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JUnit Test</a:t>
            </a:r>
          </a:p>
          <a:p>
            <a:pPr marL="0" indent="0">
              <a:buNone/>
            </a:pPr>
            <a:r>
              <a:rPr lang="en-IN" dirty="0"/>
              <a:t>      │</a:t>
            </a:r>
          </a:p>
          <a:p>
            <a:pPr marL="0" indent="0">
              <a:buNone/>
            </a:pPr>
            <a:r>
              <a:rPr lang="en-IN" dirty="0"/>
              <a:t>     ▼</a:t>
            </a:r>
          </a:p>
          <a:p>
            <a:pPr marL="0" indent="0">
              <a:buNone/>
            </a:pPr>
            <a:r>
              <a:rPr lang="en-IN" dirty="0" err="1"/>
              <a:t>Testcontainers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│</a:t>
            </a:r>
          </a:p>
          <a:p>
            <a:pPr marL="0" indent="0">
              <a:buNone/>
            </a:pPr>
            <a:r>
              <a:rPr lang="en-IN" dirty="0"/>
              <a:t>     ▼</a:t>
            </a:r>
          </a:p>
          <a:p>
            <a:pPr marL="0" indent="0">
              <a:buNone/>
            </a:pPr>
            <a:r>
              <a:rPr lang="en-IN" dirty="0"/>
              <a:t>Docker Container</a:t>
            </a:r>
          </a:p>
          <a:p>
            <a:pPr marL="0" indent="0">
              <a:buNone/>
            </a:pPr>
            <a:r>
              <a:rPr lang="en-IN" dirty="0"/>
              <a:t>      │</a:t>
            </a:r>
          </a:p>
          <a:p>
            <a:pPr marL="0" indent="0">
              <a:buNone/>
            </a:pPr>
            <a:r>
              <a:rPr lang="en-IN" dirty="0"/>
              <a:t>     ▼</a:t>
            </a:r>
          </a:p>
          <a:p>
            <a:pPr marL="0" indent="0">
              <a:buNone/>
            </a:pPr>
            <a:r>
              <a:rPr lang="en-IN" dirty="0"/>
              <a:t>Oracle Database</a:t>
            </a:r>
          </a:p>
          <a:p>
            <a:pPr marL="0" indent="0">
              <a:buNone/>
            </a:pPr>
            <a:r>
              <a:rPr lang="en-IN" dirty="0"/>
              <a:t>      │</a:t>
            </a:r>
          </a:p>
          <a:p>
            <a:pPr marL="0" indent="0">
              <a:buNone/>
            </a:pPr>
            <a:r>
              <a:rPr lang="en-IN" dirty="0"/>
              <a:t>     ▼</a:t>
            </a:r>
          </a:p>
          <a:p>
            <a:pPr marL="0" indent="0">
              <a:buNone/>
            </a:pPr>
            <a:r>
              <a:rPr lang="en-IN" dirty="0"/>
              <a:t>Hibernate</a:t>
            </a:r>
          </a:p>
          <a:p>
            <a:pPr marL="0" indent="0">
              <a:buNone/>
            </a:pPr>
            <a:r>
              <a:rPr lang="en-IN" dirty="0"/>
              <a:t>      │</a:t>
            </a:r>
          </a:p>
          <a:p>
            <a:pPr marL="0" indent="0">
              <a:buNone/>
            </a:pPr>
            <a:r>
              <a:rPr lang="en-IN" dirty="0"/>
              <a:t>     ▼</a:t>
            </a:r>
          </a:p>
          <a:p>
            <a:pPr marL="0" indent="0">
              <a:buNone/>
            </a:pPr>
            <a:r>
              <a:rPr lang="en-IN" dirty="0"/>
              <a:t>Repository Tests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50C4A-1294-2449-FA8B-9DC43D4F2341}"/>
              </a:ext>
            </a:extLst>
          </p:cNvPr>
          <p:cNvSpPr txBox="1"/>
          <p:nvPr/>
        </p:nvSpPr>
        <p:spPr>
          <a:xfrm>
            <a:off x="3763920" y="5651215"/>
            <a:ext cx="5672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Every test runs against a </a:t>
            </a:r>
            <a:r>
              <a:rPr lang="en-IN" b="1" dirty="0"/>
              <a:t>clean, isolated database</a:t>
            </a:r>
            <a:r>
              <a:rPr lang="en-IN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241470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1B1B-F50F-6BD2-BE74-8B8C0ED44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Testcontainers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71327-C4C5-ACAD-26C8-181D8ADCD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Without </a:t>
            </a:r>
            <a:r>
              <a:rPr lang="en-IN" dirty="0" err="1"/>
              <a:t>Testcontainers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Shared database </a:t>
            </a:r>
          </a:p>
          <a:p>
            <a:pPr lvl="1"/>
            <a:r>
              <a:rPr lang="en-IN" dirty="0"/>
              <a:t>Dirty test data </a:t>
            </a:r>
          </a:p>
          <a:p>
            <a:pPr lvl="1"/>
            <a:r>
              <a:rPr lang="en-IN" dirty="0"/>
              <a:t>Manual setup </a:t>
            </a:r>
          </a:p>
          <a:p>
            <a:pPr lvl="1"/>
            <a:r>
              <a:rPr lang="en-IN" dirty="0"/>
              <a:t>Environment differences </a:t>
            </a:r>
          </a:p>
          <a:p>
            <a:pPr marL="0" indent="0">
              <a:buNone/>
            </a:pPr>
            <a:r>
              <a:rPr lang="en-IN" dirty="0"/>
              <a:t>With </a:t>
            </a:r>
            <a:r>
              <a:rPr lang="en-IN" dirty="0" err="1"/>
              <a:t>Testcontainers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Fresh database </a:t>
            </a:r>
          </a:p>
          <a:p>
            <a:pPr lvl="1"/>
            <a:r>
              <a:rPr lang="en-IN" dirty="0"/>
              <a:t>Automatic startup </a:t>
            </a:r>
          </a:p>
          <a:p>
            <a:pPr lvl="1"/>
            <a:r>
              <a:rPr lang="en-IN" dirty="0"/>
              <a:t>Automatic cleanup </a:t>
            </a:r>
          </a:p>
          <a:p>
            <a:pPr lvl="1"/>
            <a:r>
              <a:rPr lang="en-IN" dirty="0"/>
              <a:t>Repeatable tests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738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54D5-556E-4B74-ADF2-0120AD36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Complete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FF853-DF5E-9A77-ECE8-187AEE908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0688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JUnit Starts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Start Docker</a:t>
            </a:r>
          </a:p>
          <a:p>
            <a:pPr marL="0" indent="0">
              <a:buNone/>
            </a:pPr>
            <a:r>
              <a:rPr lang="en-IN" dirty="0"/>
              <a:t>      ↓</a:t>
            </a:r>
          </a:p>
          <a:p>
            <a:pPr marL="0" indent="0">
              <a:buNone/>
            </a:pPr>
            <a:r>
              <a:rPr lang="en-IN" dirty="0"/>
              <a:t>Download Oracle Image (first time only)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Create Container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  <a:p>
            <a:pPr marL="0" indent="0">
              <a:buNone/>
            </a:pPr>
            <a:r>
              <a:rPr lang="en-IN" dirty="0"/>
              <a:t>Create Database</a:t>
            </a:r>
          </a:p>
          <a:p>
            <a:pPr marL="0" indent="0">
              <a:buNone/>
            </a:pPr>
            <a:r>
              <a:rPr lang="en-IN" dirty="0"/>
              <a:t>     ↓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F388E-6364-CF9B-B0EE-B85B6A60A202}"/>
              </a:ext>
            </a:extLst>
          </p:cNvPr>
          <p:cNvSpPr txBox="1"/>
          <p:nvPr/>
        </p:nvSpPr>
        <p:spPr>
          <a:xfrm>
            <a:off x="7490638" y="1408813"/>
            <a:ext cx="434871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                ↓</a:t>
            </a:r>
          </a:p>
          <a:p>
            <a:r>
              <a:rPr lang="en-IN" sz="2800" dirty="0"/>
              <a:t>Spring Boot Starts</a:t>
            </a:r>
          </a:p>
          <a:p>
            <a:r>
              <a:rPr lang="en-IN" sz="2800" dirty="0"/>
              <a:t>                ↓</a:t>
            </a:r>
          </a:p>
          <a:p>
            <a:r>
              <a:rPr lang="en-IN" sz="2800" dirty="0"/>
              <a:t>Hibernate Creates Tables</a:t>
            </a:r>
          </a:p>
          <a:p>
            <a:r>
              <a:rPr lang="en-IN" sz="2800" dirty="0"/>
              <a:t>                ↓</a:t>
            </a:r>
          </a:p>
          <a:p>
            <a:r>
              <a:rPr lang="en-IN" sz="2800" dirty="0"/>
              <a:t>Execute Tests</a:t>
            </a:r>
          </a:p>
          <a:p>
            <a:r>
              <a:rPr lang="en-IN" sz="2800" dirty="0"/>
              <a:t>                ↓</a:t>
            </a:r>
          </a:p>
          <a:p>
            <a:r>
              <a:rPr lang="en-IN" sz="2800" dirty="0"/>
              <a:t>Destroy Container</a:t>
            </a:r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46A1DA9-64F7-8022-B5D0-59D782598EFD}"/>
              </a:ext>
            </a:extLst>
          </p:cNvPr>
          <p:cNvCxnSpPr/>
          <p:nvPr/>
        </p:nvCxnSpPr>
        <p:spPr>
          <a:xfrm>
            <a:off x="6895214" y="1825625"/>
            <a:ext cx="42530" cy="46868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6380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0D10-856C-0E83-3B5F-95486428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66BB-DFAC-8764-37B1-55BB2173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Real database testing</a:t>
            </a:r>
          </a:p>
          <a:p>
            <a:r>
              <a:rPr lang="en-IN" dirty="0"/>
              <a:t>No mocking </a:t>
            </a:r>
          </a:p>
          <a:p>
            <a:r>
              <a:rPr lang="en-IN" dirty="0"/>
              <a:t>No shared database </a:t>
            </a:r>
          </a:p>
          <a:p>
            <a:r>
              <a:rPr lang="en-IN" dirty="0"/>
              <a:t>Repeatable builds </a:t>
            </a:r>
          </a:p>
          <a:p>
            <a:r>
              <a:rPr lang="en-IN" dirty="0"/>
              <a:t>CI/CD friendly </a:t>
            </a:r>
          </a:p>
          <a:p>
            <a:r>
              <a:rPr lang="en-IN" dirty="0"/>
              <a:t>Automatic cleanup</a:t>
            </a:r>
          </a:p>
        </p:txBody>
      </p:sp>
    </p:spTree>
    <p:extLst>
      <p:ext uri="{BB962C8B-B14F-4D97-AF65-F5344CB8AC3E}">
        <p14:creationId xmlns:p14="http://schemas.microsoft.com/office/powerpoint/2010/main" val="15114580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23794-F1C5-6724-63D4-4C4ED4036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74C6-E33E-186A-219A-500358152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Docker must be installed. </a:t>
            </a:r>
          </a:p>
          <a:p>
            <a:r>
              <a:rPr lang="en-IN" dirty="0"/>
              <a:t>First run is slower because the container image must be downloaded. </a:t>
            </a:r>
          </a:p>
          <a:p>
            <a:r>
              <a:rPr lang="en-IN" dirty="0"/>
              <a:t>Oracle images are larger and subject to licensing constraints. </a:t>
            </a:r>
          </a:p>
          <a:p>
            <a:r>
              <a:rPr lang="en-IN" dirty="0"/>
              <a:t>More memory is required than for an embedded database.</a:t>
            </a:r>
          </a:p>
        </p:txBody>
      </p:sp>
    </p:spTree>
    <p:extLst>
      <p:ext uri="{BB962C8B-B14F-4D97-AF65-F5344CB8AC3E}">
        <p14:creationId xmlns:p14="http://schemas.microsoft.com/office/powerpoint/2010/main" val="23086293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A87D8B-5607-1158-C7AA-5BDA4EC93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Performance Testing</a:t>
            </a:r>
          </a:p>
        </p:txBody>
      </p:sp>
    </p:spTree>
    <p:extLst>
      <p:ext uri="{BB962C8B-B14F-4D97-AF65-F5344CB8AC3E}">
        <p14:creationId xmlns:p14="http://schemas.microsoft.com/office/powerpoint/2010/main" val="9320096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4124-3098-915C-EB1C-2C841AD2C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Performance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1B5F7-9148-B85F-82CC-03CD2A8AA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Performance Testing is a </a:t>
            </a:r>
            <a:r>
              <a:rPr lang="en-IN" b="1" dirty="0"/>
              <a:t>non-functional testing technique</a:t>
            </a:r>
            <a:r>
              <a:rPr lang="en-IN" dirty="0"/>
              <a:t> used to determine:</a:t>
            </a:r>
          </a:p>
          <a:p>
            <a:r>
              <a:rPr lang="en-IN" dirty="0"/>
              <a:t>Response Time </a:t>
            </a:r>
          </a:p>
          <a:p>
            <a:r>
              <a:rPr lang="en-IN" dirty="0"/>
              <a:t>Throughput </a:t>
            </a:r>
          </a:p>
          <a:p>
            <a:r>
              <a:rPr lang="en-IN" dirty="0"/>
              <a:t>Scalability </a:t>
            </a:r>
          </a:p>
          <a:p>
            <a:r>
              <a:rPr lang="en-IN" dirty="0"/>
              <a:t>Stability </a:t>
            </a:r>
          </a:p>
          <a:p>
            <a:r>
              <a:rPr lang="en-IN" dirty="0"/>
              <a:t>Resource Usage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9755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552E-76EA-66DD-EB78-8F3690C7A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983E9-463E-BB7D-FD5A-D4852161F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Suppose 5,000 employees access our Employee Payroll application simultaneously.</a:t>
            </a:r>
          </a:p>
          <a:p>
            <a:pPr marL="0" indent="0">
              <a:buNone/>
            </a:pPr>
            <a:r>
              <a:rPr lang="en-IN" dirty="0"/>
              <a:t>Performance testing helps answer:</a:t>
            </a:r>
          </a:p>
          <a:p>
            <a:pPr lvl="1"/>
            <a:r>
              <a:rPr lang="en-IN" dirty="0"/>
              <a:t>Can the application handle 5,000 users? </a:t>
            </a:r>
          </a:p>
          <a:p>
            <a:pPr lvl="1"/>
            <a:r>
              <a:rPr lang="en-IN" dirty="0"/>
              <a:t>Will response time remain acceptable? </a:t>
            </a:r>
          </a:p>
          <a:p>
            <a:pPr lvl="1"/>
            <a:r>
              <a:rPr lang="en-IN" dirty="0"/>
              <a:t>Will the server crash? </a:t>
            </a:r>
          </a:p>
          <a:p>
            <a:pPr lvl="1"/>
            <a:r>
              <a:rPr lang="en-IN" dirty="0"/>
              <a:t>Is the database becoming the bottleneck?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50648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8CFB-D14B-5A81-CD6D-696F2E4E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Functional Testing vs Performance Testing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41F827-EF04-35CF-2DCD-DA63CC91E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166405"/>
              </p:ext>
            </p:extLst>
          </p:nvPr>
        </p:nvGraphicFramePr>
        <p:xfrm>
          <a:off x="1202659" y="2043423"/>
          <a:ext cx="8128000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022320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89701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Functional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Performance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95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Check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Checks Speed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529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Verifies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Verifies Respond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066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Small number of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Hundreds/ Thousands of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193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Pass/Fail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Performance Metrix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494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9663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3088-B505-61AF-AE29-A6FAAA59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Performance Testing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1415C-45C1-D329-6925-DA934DB02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Suppose the following API retrieves all employees: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GET /employees</a:t>
            </a:r>
          </a:p>
          <a:p>
            <a:pPr>
              <a:buNone/>
            </a:pPr>
            <a:r>
              <a:rPr lang="en-IN" dirty="0"/>
              <a:t>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 employees → 50 </a:t>
            </a:r>
            <a:r>
              <a:rPr lang="en-IN" dirty="0" err="1"/>
              <a:t>ms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100 employees → 70 </a:t>
            </a:r>
            <a:r>
              <a:rPr lang="en-IN" dirty="0" err="1"/>
              <a:t>ms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10,000 employees → 12 seconds </a:t>
            </a:r>
          </a:p>
          <a:p>
            <a:pPr>
              <a:buNone/>
            </a:pPr>
            <a:r>
              <a:rPr lang="en-IN" dirty="0"/>
              <a:t>The API is functionally correct but </a:t>
            </a:r>
            <a:r>
              <a:rPr lang="en-IN" b="1" dirty="0"/>
              <a:t>not scalable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Performance testing identifies such issues before deployment.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550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54CA-4F84-96A4-7B4B-57204B6C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Performance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2D12A-F13E-472F-1C76-7ABCCF1CF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17705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b="1" dirty="0"/>
              <a:t>1. Load Testing</a:t>
            </a:r>
          </a:p>
          <a:p>
            <a:pPr>
              <a:buNone/>
            </a:pPr>
            <a:r>
              <a:rPr lang="en-IN" dirty="0"/>
              <a:t>Checks application performance under </a:t>
            </a:r>
            <a:r>
              <a:rPr lang="en-IN" b="1" dirty="0"/>
              <a:t>expected workload</a:t>
            </a:r>
            <a:r>
              <a:rPr lang="en-IN" dirty="0"/>
              <a:t>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Example:</a:t>
            </a:r>
          </a:p>
          <a:p>
            <a:pPr>
              <a:buNone/>
            </a:pPr>
            <a:r>
              <a:rPr lang="en-IN" dirty="0"/>
              <a:t>500 users login simultaneously.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500 Users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Employee REST API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Response Time &lt; 2 sec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7929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1B9A-B1AF-7343-F537-617BA288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Performance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7418E-70F9-D63C-3DC9-333606339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/>
              <a:t>2. Stress Testing</a:t>
            </a:r>
          </a:p>
          <a:p>
            <a:pPr>
              <a:buNone/>
            </a:pPr>
            <a:r>
              <a:rPr lang="en-IN" dirty="0"/>
              <a:t>Checks application beyond its expected capacity.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10000 Users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Employee REST API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Failure Point?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Purpose:</a:t>
            </a:r>
          </a:p>
          <a:p>
            <a:pPr>
              <a:buNone/>
            </a:pPr>
            <a:r>
              <a:rPr lang="en-IN" dirty="0"/>
              <a:t>Determine the breaking point.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39621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29AF-1685-86B6-3AEB-8DA0B3613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Performance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DC96B-7ED5-3336-5D2A-3AC7207D5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b="1" dirty="0"/>
              <a:t>3. Spike Testing</a:t>
            </a:r>
          </a:p>
          <a:p>
            <a:pPr>
              <a:buNone/>
            </a:pPr>
            <a:r>
              <a:rPr lang="en-IN" dirty="0"/>
              <a:t>Sudden increase in users.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50 Users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5000 Users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50 Users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Checks whether the application recovers.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47417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44EB-8A5A-0B4D-AF51-072A3F5F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Performance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D5F7-3235-0848-74EF-E262B554D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b="1" dirty="0"/>
              <a:t>4. Endurance (Soak) Testing</a:t>
            </a:r>
          </a:p>
          <a:p>
            <a:pPr>
              <a:buNone/>
            </a:pPr>
            <a:r>
              <a:rPr lang="en-IN" dirty="0"/>
              <a:t>Continuous testing for several hours.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300 Users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8 Hours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Detects: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Memory leaks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Connection leaks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CPU growth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7557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4CBB-5EDB-BD55-C158-55BB93D0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Performance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A0922-0E0C-98B0-6EE2-7D664FE96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b="1" dirty="0"/>
              <a:t>5. Volume Testing</a:t>
            </a:r>
          </a:p>
          <a:p>
            <a:pPr>
              <a:buNone/>
            </a:pPr>
            <a:r>
              <a:rPr lang="en-IN" dirty="0"/>
              <a:t>Tests with a huge amount of data.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Example:</a:t>
            </a:r>
          </a:p>
          <a:p>
            <a:pPr>
              <a:buNone/>
            </a:pPr>
            <a:r>
              <a:rPr lang="en-IN" dirty="0"/>
              <a:t>Employee table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100 Records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↓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 Million Records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Checks query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36211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31587-7762-37AB-E637-3E90F085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Testing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01C58-3DE5-B2FB-DFEC-84BB63150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 Apache JMeter</a:t>
            </a:r>
          </a:p>
          <a:p>
            <a:pPr marL="0" indent="0">
              <a:buNone/>
            </a:pPr>
            <a:r>
              <a:rPr lang="en-IN" dirty="0"/>
              <a:t>                     │</a:t>
            </a:r>
          </a:p>
          <a:p>
            <a:pPr marL="0" indent="0">
              <a:buNone/>
            </a:pPr>
            <a:r>
              <a:rPr lang="en-IN" dirty="0"/>
              <a:t>                    ▼</a:t>
            </a:r>
          </a:p>
          <a:p>
            <a:pPr marL="0" indent="0">
              <a:buNone/>
            </a:pPr>
            <a:r>
              <a:rPr lang="en-IN" dirty="0"/>
              <a:t>           HTTP Requests (1000 Users)</a:t>
            </a:r>
          </a:p>
          <a:p>
            <a:pPr marL="0" indent="0">
              <a:buNone/>
            </a:pPr>
            <a:r>
              <a:rPr lang="en-IN" dirty="0"/>
              <a:t>                     │</a:t>
            </a:r>
          </a:p>
          <a:p>
            <a:pPr marL="0" indent="0">
              <a:buNone/>
            </a:pPr>
            <a:r>
              <a:rPr lang="en-IN" dirty="0"/>
              <a:t>                    ▼</a:t>
            </a:r>
          </a:p>
          <a:p>
            <a:pPr marL="0" indent="0">
              <a:buNone/>
            </a:pPr>
            <a:r>
              <a:rPr lang="en-IN" dirty="0"/>
              <a:t>            Employee REST API</a:t>
            </a:r>
          </a:p>
          <a:p>
            <a:pPr marL="0" indent="0">
              <a:buNone/>
            </a:pPr>
            <a:r>
              <a:rPr lang="en-IN" dirty="0"/>
              <a:t>                     │</a:t>
            </a:r>
          </a:p>
          <a:p>
            <a:pPr marL="0" indent="0">
              <a:buNone/>
            </a:pPr>
            <a:r>
              <a:rPr lang="en-IN" dirty="0"/>
              <a:t>                    ▼</a:t>
            </a:r>
          </a:p>
          <a:p>
            <a:pPr marL="0" indent="0">
              <a:buNone/>
            </a:pPr>
            <a:r>
              <a:rPr lang="en-IN" dirty="0"/>
              <a:t>             Employee Service</a:t>
            </a:r>
          </a:p>
          <a:p>
            <a:pPr marL="0" indent="0">
              <a:buNone/>
            </a:pPr>
            <a:r>
              <a:rPr lang="en-IN" dirty="0"/>
              <a:t>                     │</a:t>
            </a:r>
          </a:p>
          <a:p>
            <a:pPr marL="0" indent="0">
              <a:buNone/>
            </a:pPr>
            <a:r>
              <a:rPr lang="en-IN" dirty="0"/>
              <a:t>                    ▼</a:t>
            </a:r>
          </a:p>
          <a:p>
            <a:pPr marL="0" indent="0">
              <a:buNone/>
            </a:pPr>
            <a:r>
              <a:rPr lang="en-IN" dirty="0"/>
              <a:t>            Employee Repository</a:t>
            </a:r>
          </a:p>
          <a:p>
            <a:pPr marL="0" indent="0">
              <a:buNone/>
            </a:pPr>
            <a:r>
              <a:rPr lang="en-IN" dirty="0"/>
              <a:t>                     │</a:t>
            </a:r>
          </a:p>
          <a:p>
            <a:pPr marL="0" indent="0">
              <a:buNone/>
            </a:pPr>
            <a:r>
              <a:rPr lang="en-IN" dirty="0"/>
              <a:t>                    ▼</a:t>
            </a:r>
          </a:p>
          <a:p>
            <a:pPr marL="0" indent="0">
              <a:buNone/>
            </a:pPr>
            <a:r>
              <a:rPr lang="en-IN" dirty="0"/>
              <a:t>               Oracle Database</a:t>
            </a:r>
          </a:p>
        </p:txBody>
      </p:sp>
    </p:spTree>
    <p:extLst>
      <p:ext uri="{BB962C8B-B14F-4D97-AF65-F5344CB8AC3E}">
        <p14:creationId xmlns:p14="http://schemas.microsoft.com/office/powerpoint/2010/main" val="12881416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EC40-A10A-6FFF-D5E9-A5965750C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Apache JMeter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2C063-F524-E3A5-21D8-EDA71B464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dirty="0"/>
              <a:t>Apache JMeter is the most popular open-source performance testing tool.</a:t>
            </a:r>
          </a:p>
          <a:p>
            <a:pPr>
              <a:buNone/>
            </a:pPr>
            <a:r>
              <a:rPr lang="en-IN" dirty="0"/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Load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Stress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REST API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SOAP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FTP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JMS Testing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249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2243</Words>
  <Application>Microsoft Office PowerPoint</Application>
  <PresentationFormat>Widescreen</PresentationFormat>
  <Paragraphs>556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Aptos</vt:lpstr>
      <vt:lpstr>Aptos Display</vt:lpstr>
      <vt:lpstr>Arial</vt:lpstr>
      <vt:lpstr>Courier New</vt:lpstr>
      <vt:lpstr>Office Theme</vt:lpstr>
      <vt:lpstr>Spring Boot Unit Testing, Integration Testing, Testcontainer, Performance Test</vt:lpstr>
      <vt:lpstr>Unit Testing</vt:lpstr>
      <vt:lpstr>What is Unit Testing?</vt:lpstr>
      <vt:lpstr>JUnit 5 Architecture</vt:lpstr>
      <vt:lpstr>@Test Annotation</vt:lpstr>
      <vt:lpstr>Assertions</vt:lpstr>
      <vt:lpstr>Before and After Methods</vt:lpstr>
      <vt:lpstr>Display Names</vt:lpstr>
      <vt:lpstr>Mockito</vt:lpstr>
      <vt:lpstr>Mockito Annotations</vt:lpstr>
      <vt:lpstr>Common Mockito Methods</vt:lpstr>
      <vt:lpstr> Common Mockito Methods</vt:lpstr>
      <vt:lpstr>Integration Testing</vt:lpstr>
      <vt:lpstr>What is Integration Testing?</vt:lpstr>
      <vt:lpstr>Unit Test vs Integration Test</vt:lpstr>
      <vt:lpstr>Integration Testing Architecture</vt:lpstr>
      <vt:lpstr>Types of Integration Testing in Spring Boot</vt:lpstr>
      <vt:lpstr>Why @DataJpaTest?</vt:lpstr>
      <vt:lpstr>Using Oracle Instead of H2</vt:lpstr>
      <vt:lpstr>Transaction Behaviour</vt:lpstr>
      <vt:lpstr>Validation During Integration Tests</vt:lpstr>
      <vt:lpstr>What is @SpringBootTest?</vt:lpstr>
      <vt:lpstr>Architecture</vt:lpstr>
      <vt:lpstr>Example</vt:lpstr>
      <vt:lpstr>Advantages</vt:lpstr>
      <vt:lpstr>Disadvantages</vt:lpstr>
      <vt:lpstr>When should we use it?</vt:lpstr>
      <vt:lpstr>What is @WebMvcTest?</vt:lpstr>
      <vt:lpstr>Architecture</vt:lpstr>
      <vt:lpstr>Why Mock the Service?</vt:lpstr>
      <vt:lpstr>Example</vt:lpstr>
      <vt:lpstr>Advantages</vt:lpstr>
      <vt:lpstr>Disadvantages</vt:lpstr>
      <vt:lpstr>When should we use it?</vt:lpstr>
      <vt:lpstr>@AutoConfigureMockMvc – REST API Testing</vt:lpstr>
      <vt:lpstr>Example</vt:lpstr>
      <vt:lpstr>Testcontainers</vt:lpstr>
      <vt:lpstr>What are Testcontainers?</vt:lpstr>
      <vt:lpstr>Traditional Testing Problem</vt:lpstr>
      <vt:lpstr>Testcontainers Solution</vt:lpstr>
      <vt:lpstr>Why Testcontainers?</vt:lpstr>
      <vt:lpstr>Complete Flow</vt:lpstr>
      <vt:lpstr>Benefits</vt:lpstr>
      <vt:lpstr>Limitations</vt:lpstr>
      <vt:lpstr>Performance Testing</vt:lpstr>
      <vt:lpstr>What is Performance Testing?</vt:lpstr>
      <vt:lpstr>Example:</vt:lpstr>
      <vt:lpstr>Functional Testing vs Performance Testing</vt:lpstr>
      <vt:lpstr>Why is Performance Testing Important?</vt:lpstr>
      <vt:lpstr>Types of Performance Testing</vt:lpstr>
      <vt:lpstr>Types of Performance Testing</vt:lpstr>
      <vt:lpstr>Types of Performance Testing</vt:lpstr>
      <vt:lpstr>Types of Performance Testing</vt:lpstr>
      <vt:lpstr>Types of Performance Testing</vt:lpstr>
      <vt:lpstr>Performance Testing Architecture</vt:lpstr>
      <vt:lpstr>Apache JMeter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Sujata Batra</dc:creator>
  <cp:lastModifiedBy>Sujata Batra</cp:lastModifiedBy>
  <cp:revision>71</cp:revision>
  <dcterms:created xsi:type="dcterms:W3CDTF">2026-07-09T05:32:34Z</dcterms:created>
  <dcterms:modified xsi:type="dcterms:W3CDTF">2026-07-09T08:30:55Z</dcterms:modified>
</cp:coreProperties>
</file>