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B9CE-8924-0316-25D9-C92CC9181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FA2C5-82E1-2A11-9594-C097FC40D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773E-1FAB-9183-3BC4-EB76C830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6BB39-E2F2-030E-90E6-D37960AB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627F-F2EB-5530-A3D3-96F9DAF9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1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5AD2-7AFE-6972-22EA-211FDAD6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48B8-B147-67F0-E276-3FA926FC3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0FBA-F13A-27B2-969D-D4FF13F9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E4F2D-8405-0887-EDC0-1DE9AA25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EA9C5-4A03-D8D9-30BD-F03AA71E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04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1F9-18FE-FC2B-3DC8-3BC105B3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B1AB3-C5F9-5530-838B-D7D0595E3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05DF-2E3C-CFB1-A8E8-F0EB98FB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87D9-31E2-D03D-B376-46B7DBA9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5B5E2-35B2-5D9A-EC2A-4659F863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87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6D73-FC3F-5544-530B-D6CBB4EC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D4D7-1B4D-C964-49DD-0FC228682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39134-3FED-F636-C370-97E0FEB64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1F048-7209-0AD3-F505-D8EA11BE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F4388-A46D-0DA4-41D0-C6EDADB0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DE309-6787-DDE1-EC38-6F18AAFB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4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26B1-9076-9FC3-8B02-6915FEB4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5B31F-D7D6-878D-2324-F747A2A75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CE3B0-ECFE-4AE1-5009-E7FD1C63C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E24AF-E8EC-B8C6-DEC2-566270FA3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9B601-D29B-3161-A3BB-2DA0A8F43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2181F-04AE-22A0-1447-C0E6E8F3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3296A-0387-335C-66AA-8FEDE497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47BF3-F92F-D91B-2149-F744C613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74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EFD3-7D31-A815-780E-56502BB7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949F1-0EAE-48E1-283A-E95B7CDA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2C0E9-2018-CCDB-8064-7F4BE06D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70876-7A53-6F1B-E2F5-9BA4EEFA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59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1CC7-22E3-E288-67A4-6B814EFD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9AEF0-4058-2E12-64ED-9F7F9B0F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34B27-146E-854A-1885-974E0454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DA22-69FF-2102-0AD8-95F42079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7AF8D-062D-769B-66A3-70C994A92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D005E-F58D-A536-7163-BB58D1BC4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AA651-379B-74F6-419E-F32B728A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45A13-262F-1891-D55D-5324D084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0C81F-66E8-18FC-552C-1C4CB17C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91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B0C6-9E23-19FE-312F-FE9874CD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3A784-91CB-ACEC-DE08-46D649E75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3E515-6997-9ABE-0A6D-49678B50E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E6930-3CEE-4353-4AAA-3DFD7A31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74D2-F9D2-189D-051E-50791A80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7888E-79DB-7CF9-D4D3-5DD4D209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DC5F-14DA-100D-152D-623398E4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02D08-7273-476C-D2B9-78B46B135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FD04A-74F7-6B14-0344-AE7586B1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9DEB8-F9A1-95A0-3211-7E55B8EF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00547-61BB-4F77-3DB2-852B566F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3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9140B-0B32-C4F7-79A2-ABADDCA83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4DB4C-3F76-6F25-70F6-4DDBFD3BE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70861-7C38-288E-235C-F26E9D2F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3258D-5D0D-486F-5154-B0EE83F3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0582-3BFF-EBE8-7B6B-1351424E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64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07EF0-9681-FBB4-269A-49435A00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771B6-E72F-8DD3-5119-B8BE8A4A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93DB-A5BB-0937-B177-60A5CAAF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E3313-1AF8-4B72-9A94-948211B73BA5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CB5AC-3635-FFAF-DA79-88B5923FB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E4CE-6EE3-80D9-FBA1-5EA3ED058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560CF-1B52-4283-B4D2-4FDD1B0EC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1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289B-406B-33D2-F772-9629D237F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35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Production Readiness  Checklist&amp; Deployment Configuration Basics</a:t>
            </a:r>
          </a:p>
        </p:txBody>
      </p:sp>
    </p:spTree>
    <p:extLst>
      <p:ext uri="{BB962C8B-B14F-4D97-AF65-F5344CB8AC3E}">
        <p14:creationId xmlns:p14="http://schemas.microsoft.com/office/powerpoint/2010/main" val="216171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B56AE7-3E79-E043-4549-6E39438D4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356"/>
            <a:ext cx="9144000" cy="2387600"/>
          </a:xfrm>
        </p:spPr>
        <p:txBody>
          <a:bodyPr/>
          <a:lstStyle/>
          <a:p>
            <a:r>
              <a:rPr lang="en-IN" b="1" dirty="0"/>
              <a:t>Production Readiness Checklist</a:t>
            </a:r>
          </a:p>
        </p:txBody>
      </p:sp>
    </p:spTree>
    <p:extLst>
      <p:ext uri="{BB962C8B-B14F-4D97-AF65-F5344CB8AC3E}">
        <p14:creationId xmlns:p14="http://schemas.microsoft.com/office/powerpoint/2010/main" val="1074981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E48C-AEBC-9146-4E05-276694A3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Production Readiness?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61BF-BBCF-FBF8-FDAB-A7679D24E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Production readiness is the process of verifying that an application is prepared to run reliably in a production environment.</a:t>
            </a:r>
          </a:p>
          <a:p>
            <a:pPr>
              <a:buNone/>
            </a:pPr>
            <a:r>
              <a:rPr lang="en-IN" dirty="0"/>
              <a:t>It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Correct configuration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Health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Deployment strategy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9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99AE-A978-A8B6-3FE2-7C613841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29115-DF68-D53D-F2B3-4C4A2FC65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                                          Users</a:t>
            </a:r>
          </a:p>
          <a:p>
            <a:pPr marL="0" indent="0">
              <a:buNone/>
            </a:pPr>
            <a:r>
              <a:rPr lang="en-IN" dirty="0"/>
              <a:t>                  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                Load Balancer</a:t>
            </a:r>
          </a:p>
          <a:p>
            <a:pPr marL="0" indent="0">
              <a:buNone/>
            </a:pPr>
            <a:r>
              <a:rPr lang="en-IN" dirty="0"/>
              <a:t>                                                 │</a:t>
            </a:r>
          </a:p>
          <a:p>
            <a:pPr marL="0" indent="0">
              <a:buNone/>
            </a:pPr>
            <a:r>
              <a:rPr lang="en-IN" dirty="0"/>
              <a:t>        ┌───────────────┴───────────────┐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▼                             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Spring Boot Instance 1         Spring Boot Instance 2</a:t>
            </a:r>
          </a:p>
          <a:p>
            <a:pPr marL="0" indent="0">
              <a:buNone/>
            </a:pPr>
            <a:r>
              <a:rPr lang="en-IN" dirty="0"/>
              <a:t>        │                                                                                │</a:t>
            </a:r>
          </a:p>
          <a:p>
            <a:pPr marL="0" indent="0">
              <a:buNone/>
            </a:pPr>
            <a:r>
              <a:rPr lang="en-IN" dirty="0"/>
              <a:t>        └───────────────┬───────────────┘</a:t>
            </a:r>
          </a:p>
          <a:p>
            <a:pPr marL="0" indent="0">
              <a:buNone/>
            </a:pPr>
            <a:r>
              <a:rPr lang="en-IN" dirty="0"/>
              <a:t> 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           Oracle Database</a:t>
            </a:r>
          </a:p>
          <a:p>
            <a:pPr marL="0" indent="0">
              <a:buNone/>
            </a:pPr>
            <a:r>
              <a:rPr lang="en-IN" dirty="0"/>
              <a:t>                                                │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              Backup Server</a:t>
            </a:r>
          </a:p>
        </p:txBody>
      </p:sp>
    </p:spTree>
    <p:extLst>
      <p:ext uri="{BB962C8B-B14F-4D97-AF65-F5344CB8AC3E}">
        <p14:creationId xmlns:p14="http://schemas.microsoft.com/office/powerpoint/2010/main" val="184467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4E8C-EFB4-1003-2EF5-767EDF38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Readiness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B2CEA-78D2-4B14-9276-55C0560E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Before deployment verify:</a:t>
            </a:r>
          </a:p>
          <a:p>
            <a:pPr>
              <a:buNone/>
            </a:pPr>
            <a:r>
              <a:rPr lang="en-IN" dirty="0"/>
              <a:t>✔ Configuration</a:t>
            </a:r>
          </a:p>
          <a:p>
            <a:pPr>
              <a:buNone/>
            </a:pPr>
            <a:r>
              <a:rPr lang="en-IN" dirty="0"/>
              <a:t>✔ Logging</a:t>
            </a:r>
          </a:p>
          <a:p>
            <a:pPr>
              <a:buNone/>
            </a:pPr>
            <a:r>
              <a:rPr lang="en-IN" dirty="0"/>
              <a:t>✔ Monitoring</a:t>
            </a:r>
          </a:p>
          <a:p>
            <a:pPr>
              <a:buNone/>
            </a:pPr>
            <a:r>
              <a:rPr lang="en-IN" dirty="0"/>
              <a:t>✔ Health Checks</a:t>
            </a:r>
          </a:p>
          <a:p>
            <a:pPr>
              <a:buNone/>
            </a:pPr>
            <a:r>
              <a:rPr lang="en-IN" dirty="0"/>
              <a:t>✔ Security</a:t>
            </a:r>
          </a:p>
          <a:p>
            <a:pPr>
              <a:buNone/>
            </a:pPr>
            <a:r>
              <a:rPr lang="en-IN" dirty="0"/>
              <a:t>✔ Database</a:t>
            </a:r>
          </a:p>
          <a:p>
            <a:pPr>
              <a:buNone/>
            </a:pPr>
            <a:r>
              <a:rPr lang="en-IN" dirty="0"/>
              <a:t>✔ Exception Handling</a:t>
            </a:r>
          </a:p>
          <a:p>
            <a:pPr>
              <a:buNone/>
            </a:pPr>
            <a:r>
              <a:rPr lang="en-IN" dirty="0"/>
              <a:t>✔ Performance</a:t>
            </a:r>
          </a:p>
          <a:p>
            <a:pPr>
              <a:buNone/>
            </a:pPr>
            <a:r>
              <a:rPr lang="en-IN" dirty="0"/>
              <a:t>✔ Backup</a:t>
            </a:r>
          </a:p>
          <a:p>
            <a:pPr>
              <a:buNone/>
            </a:pPr>
            <a:r>
              <a:rPr lang="en-IN" dirty="0"/>
              <a:t>✔ Deployment Strategy</a:t>
            </a:r>
          </a:p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5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B95E-5F9A-3E1B-2C51-4E3CFF1C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Externalized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634D-A48A-1BA7-59B2-E8189D58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335"/>
            <a:ext cx="10515600" cy="526311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/>
              <a:t>Never hardcode values.</a:t>
            </a:r>
          </a:p>
          <a:p>
            <a:pPr>
              <a:buNone/>
            </a:pPr>
            <a:r>
              <a:rPr lang="en-IN" dirty="0"/>
              <a:t>❌ Wrong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String </a:t>
            </a:r>
            <a:r>
              <a:rPr lang="en-IN" dirty="0" err="1">
                <a:latin typeface="Courier New" panose="02070309020205020404" pitchFamily="49" charset="0"/>
              </a:rPr>
              <a:t>url</a:t>
            </a:r>
            <a:r>
              <a:rPr lang="en-IN" dirty="0">
                <a:latin typeface="Courier New" panose="02070309020205020404" pitchFamily="49" charset="0"/>
              </a:rPr>
              <a:t>="</a:t>
            </a:r>
            <a:r>
              <a:rPr lang="en-IN" dirty="0" err="1">
                <a:latin typeface="Courier New" panose="02070309020205020404" pitchFamily="49" charset="0"/>
              </a:rPr>
              <a:t>jdbc:oracle:thin</a:t>
            </a:r>
            <a:r>
              <a:rPr lang="en-IN" dirty="0">
                <a:latin typeface="Courier New" panose="02070309020205020404" pitchFamily="49" charset="0"/>
              </a:rPr>
              <a:t>:@localhost:1521:xe";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✔ Correct</a:t>
            </a:r>
          </a:p>
          <a:p>
            <a:pPr>
              <a:buNone/>
            </a:pPr>
            <a:r>
              <a:rPr lang="en-IN" dirty="0" err="1"/>
              <a:t>application.properties</a:t>
            </a: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spring.datasource.url=${DB_URL}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spring.datasource.username</a:t>
            </a:r>
            <a:r>
              <a:rPr lang="en-IN" dirty="0">
                <a:latin typeface="Courier New" panose="02070309020205020404" pitchFamily="49" charset="0"/>
              </a:rPr>
              <a:t>=${DB_USER}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spring.datasource.password</a:t>
            </a:r>
            <a:r>
              <a:rPr lang="en-IN" dirty="0">
                <a:latin typeface="Courier New" panose="02070309020205020404" pitchFamily="49" charset="0"/>
              </a:rPr>
              <a:t>=${DB_PASSWORD}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Environment Variables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DB_URL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DB_USER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DB_PASSWORD</a:t>
            </a:r>
          </a:p>
          <a:p>
            <a:pPr>
              <a:buNone/>
            </a:pPr>
            <a:r>
              <a:rPr lang="en-IN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Flexible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Environment independent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10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FE56-294F-45CD-93EF-874764DB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Spring Profiles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235B6-2599-226D-31A7-61B143AD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20" y="1350335"/>
            <a:ext cx="6246628" cy="526843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Different environments require different configurations.</a:t>
            </a:r>
          </a:p>
          <a:p>
            <a:pPr>
              <a:buNone/>
            </a:pPr>
            <a:r>
              <a:rPr lang="en-IN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Development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application-</a:t>
            </a:r>
            <a:r>
              <a:rPr lang="en-IN" dirty="0" err="1">
                <a:latin typeface="Courier New" panose="02070309020205020404" pitchFamily="49" charset="0"/>
              </a:rPr>
              <a:t>dev.properties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Testing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application-</a:t>
            </a:r>
            <a:r>
              <a:rPr lang="en-IN" dirty="0" err="1">
                <a:latin typeface="Courier New" panose="02070309020205020404" pitchFamily="49" charset="0"/>
              </a:rPr>
              <a:t>test.properties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Production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application-</a:t>
            </a:r>
            <a:r>
              <a:rPr lang="en-IN" dirty="0" err="1">
                <a:latin typeface="Courier New" panose="02070309020205020404" pitchFamily="49" charset="0"/>
              </a:rPr>
              <a:t>prod.properties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Run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spring.profiles.active</a:t>
            </a:r>
            <a:r>
              <a:rPr lang="en-IN" dirty="0">
                <a:latin typeface="Courier New" panose="02070309020205020404" pitchFamily="49" charset="0"/>
              </a:rPr>
              <a:t>=prod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0B0DC-8046-D577-7CF8-DF56DD2DE29B}"/>
              </a:ext>
            </a:extLst>
          </p:cNvPr>
          <p:cNvSpPr txBox="1"/>
          <p:nvPr/>
        </p:nvSpPr>
        <p:spPr>
          <a:xfrm>
            <a:off x="6916479" y="2727254"/>
            <a:ext cx="45082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/>
              <a:t>Example</a:t>
            </a:r>
          </a:p>
          <a:p>
            <a:pPr>
              <a:buNone/>
            </a:pPr>
            <a:r>
              <a:rPr lang="en-IN" dirty="0"/>
              <a:t>application-</a:t>
            </a:r>
            <a:r>
              <a:rPr lang="en-IN" dirty="0" err="1"/>
              <a:t>dev.properties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logging.level.root</a:t>
            </a:r>
            <a:r>
              <a:rPr lang="en-IN" dirty="0">
                <a:latin typeface="Courier New" panose="02070309020205020404" pitchFamily="49" charset="0"/>
              </a:rPr>
              <a:t>=DEBUG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server.port</a:t>
            </a:r>
            <a:r>
              <a:rPr lang="en-IN" dirty="0">
                <a:latin typeface="Courier New" panose="02070309020205020404" pitchFamily="49" charset="0"/>
              </a:rPr>
              <a:t>=8085</a:t>
            </a:r>
          </a:p>
          <a:p>
            <a:pPr>
              <a:buNone/>
            </a:pPr>
            <a:r>
              <a:rPr lang="en-IN" dirty="0"/>
              <a:t>application-</a:t>
            </a:r>
            <a:r>
              <a:rPr lang="en-IN" dirty="0" err="1"/>
              <a:t>prod.properties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logging.level.root</a:t>
            </a:r>
            <a:r>
              <a:rPr lang="en-IN" dirty="0">
                <a:latin typeface="Courier New" panose="02070309020205020404" pitchFamily="49" charset="0"/>
              </a:rPr>
              <a:t>=WARN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server.port</a:t>
            </a:r>
            <a:r>
              <a:rPr lang="en-IN" dirty="0">
                <a:latin typeface="Courier New" panose="02070309020205020404" pitchFamily="49" charset="0"/>
              </a:rPr>
              <a:t>=80</a:t>
            </a:r>
          </a:p>
        </p:txBody>
      </p:sp>
    </p:spTree>
    <p:extLst>
      <p:ext uri="{BB962C8B-B14F-4D97-AF65-F5344CB8AC3E}">
        <p14:creationId xmlns:p14="http://schemas.microsoft.com/office/powerpoint/2010/main" val="210882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B13B-D25D-B9AB-F6E7-E37D9A0D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Secrets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7049-181F-946F-0363-753254A47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/>
              <a:t>Never store</a:t>
            </a:r>
          </a:p>
          <a:p>
            <a:pPr>
              <a:buNone/>
            </a:pPr>
            <a:r>
              <a:rPr lang="en-IN" dirty="0"/>
              <a:t>❌ Passwords</a:t>
            </a:r>
          </a:p>
          <a:p>
            <a:pPr>
              <a:buNone/>
            </a:pPr>
            <a:r>
              <a:rPr lang="en-IN" dirty="0"/>
              <a:t>❌ API Keys</a:t>
            </a:r>
          </a:p>
          <a:p>
            <a:pPr>
              <a:buNone/>
            </a:pPr>
            <a:r>
              <a:rPr lang="en-IN" dirty="0"/>
              <a:t>❌ Tokens</a:t>
            </a:r>
          </a:p>
          <a:p>
            <a:pPr>
              <a:buNone/>
            </a:pPr>
            <a:r>
              <a:rPr lang="en-IN" dirty="0"/>
              <a:t>inside Git.</a:t>
            </a:r>
          </a:p>
          <a:p>
            <a:pPr>
              <a:buNone/>
            </a:pPr>
            <a:r>
              <a:rPr lang="en-IN" dirty="0"/>
              <a:t>Wrong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spring.datasource.password</a:t>
            </a:r>
            <a:r>
              <a:rPr lang="en-IN" dirty="0">
                <a:latin typeface="Courier New" panose="02070309020205020404" pitchFamily="49" charset="0"/>
              </a:rPr>
              <a:t>=admin123</a:t>
            </a:r>
          </a:p>
          <a:p>
            <a:pPr>
              <a:buNone/>
            </a:pPr>
            <a:r>
              <a:rPr lang="en-IN" dirty="0"/>
              <a:t>Better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spring.datasource.password</a:t>
            </a:r>
            <a:r>
              <a:rPr lang="en-IN" dirty="0">
                <a:latin typeface="Courier New" panose="02070309020205020404" pitchFamily="49" charset="0"/>
              </a:rPr>
              <a:t>=${DB_PASSWORD}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Enterprise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HashiCorp</a:t>
            </a:r>
            <a:r>
              <a:rPr lang="en-IN" dirty="0"/>
              <a:t> Vault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AWS Secrets Manager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Azure Key Vault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Kubernetes Secrets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396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9D4E-0E7D-EE4D-6276-87DA15DC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196F-5A0E-BE52-5B75-A81A57488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/>
              <a:t>Bad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(employee);</a:t>
            </a:r>
          </a:p>
          <a:p>
            <a:pPr>
              <a:buNone/>
            </a:pPr>
            <a:r>
              <a:rPr lang="en-IN" dirty="0"/>
              <a:t>Good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private static final Logger </a:t>
            </a:r>
            <a:r>
              <a:rPr lang="en-IN" dirty="0" err="1">
                <a:latin typeface="Courier New" panose="02070309020205020404" pitchFamily="49" charset="0"/>
              </a:rPr>
              <a:t>logger</a:t>
            </a:r>
            <a:r>
              <a:rPr lang="en-IN" dirty="0">
                <a:latin typeface="Courier New" panose="02070309020205020404" pitchFamily="49" charset="0"/>
              </a:rPr>
              <a:t> =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LoggerFactory.getLogger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EmployeeService.class</a:t>
            </a:r>
            <a:r>
              <a:rPr lang="en-IN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logger.info("Employee Created {}",</a:t>
            </a:r>
            <a:r>
              <a:rPr lang="en-IN" dirty="0" err="1">
                <a:latin typeface="Courier New" panose="02070309020205020404" pitchFamily="49" charset="0"/>
              </a:rPr>
              <a:t>employee.getEmpId</a:t>
            </a:r>
            <a:r>
              <a:rPr lang="en-IN" dirty="0">
                <a:latin typeface="Courier New" panose="02070309020205020404" pitchFamily="49" charset="0"/>
              </a:rPr>
              <a:t>());</a:t>
            </a:r>
          </a:p>
          <a:p>
            <a:pPr>
              <a:buNone/>
            </a:pPr>
            <a:r>
              <a:rPr lang="en-IN" dirty="0"/>
              <a:t>Never 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Passwords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JWT Tokens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Credit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Personal Information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95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0E27-9309-B2FB-5BB2-F18F702E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Health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DC70-932D-C31E-41C6-52B3E7AF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/>
              <a:t>Spring Boot Actuator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management.endpoints.web.exposure.include</a:t>
            </a:r>
            <a:r>
              <a:rPr lang="en-IN" dirty="0">
                <a:latin typeface="Courier New" panose="02070309020205020404" pitchFamily="49" charset="0"/>
              </a:rPr>
              <a:t>=health</a:t>
            </a:r>
          </a:p>
          <a:p>
            <a:pPr>
              <a:buNone/>
            </a:pPr>
            <a:r>
              <a:rPr lang="en-IN" dirty="0"/>
              <a:t>API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/actuator/health</a:t>
            </a:r>
          </a:p>
          <a:p>
            <a:pPr>
              <a:buNone/>
            </a:pPr>
            <a:r>
              <a:rPr lang="en-IN" dirty="0"/>
              <a:t>Example Response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19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7DB-5F70-4D05-BFAB-1194BB28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F2F6-74C5-02E9-B87C-0A4D1FB6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061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CPU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Threads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 Requests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Response Time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Popular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Prometheus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Grafana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Elastic Stack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Splunk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Datadog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4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FB71-2E60-AF1F-0561-653232A1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Graceful Shutdown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10D10-F303-F94E-2756-C18EA1E55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1770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Without graceful shutdown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Request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Server Stops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Request Lost</a:t>
            </a:r>
          </a:p>
          <a:p>
            <a:pPr>
              <a:buNone/>
            </a:pPr>
            <a:r>
              <a:rPr lang="en-IN" dirty="0"/>
              <a:t>With graceful shutdown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Server Shutdown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Finish Current Requests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Close Database Connections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Stop Application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5F279-F652-C05C-4ED8-EEB741340AE3}"/>
              </a:ext>
            </a:extLst>
          </p:cNvPr>
          <p:cNvSpPr txBox="1"/>
          <p:nvPr/>
        </p:nvSpPr>
        <p:spPr>
          <a:xfrm>
            <a:off x="6209414" y="3349256"/>
            <a:ext cx="5443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application.properties</a:t>
            </a:r>
            <a:endParaRPr lang="en-IN" dirty="0"/>
          </a:p>
          <a:p>
            <a:r>
              <a:rPr lang="en-IN" dirty="0" err="1"/>
              <a:t>server.shutdown</a:t>
            </a:r>
            <a:r>
              <a:rPr lang="en-IN" dirty="0"/>
              <a:t>=graceful</a:t>
            </a:r>
          </a:p>
          <a:p>
            <a:endParaRPr lang="en-IN" dirty="0"/>
          </a:p>
          <a:p>
            <a:r>
              <a:rPr lang="en-IN" dirty="0" err="1"/>
              <a:t>spring.lifecycle.timeout</a:t>
            </a:r>
            <a:r>
              <a:rPr lang="en-IN" dirty="0"/>
              <a:t>-per-shutdown-phase=30s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242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B72E-746B-94E5-2701-D24CEAA0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B4FA-45DC-DA5A-A7FB-5F0AEB02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Never expose stack traces.</a:t>
            </a:r>
          </a:p>
          <a:p>
            <a:pPr>
              <a:buNone/>
            </a:pPr>
            <a:r>
              <a:rPr lang="en-IN" dirty="0"/>
              <a:t>Bad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"exception":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"</a:t>
            </a:r>
            <a:r>
              <a:rPr lang="en-IN" dirty="0" err="1">
                <a:latin typeface="Courier New" panose="02070309020205020404" pitchFamily="49" charset="0"/>
              </a:rPr>
              <a:t>java.lang.NullPointerException</a:t>
            </a:r>
            <a:r>
              <a:rPr lang="en-IN" dirty="0">
                <a:latin typeface="Courier New" panose="02070309020205020404" pitchFamily="49" charset="0"/>
              </a:rPr>
              <a:t>..."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Good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"</a:t>
            </a:r>
            <a:r>
              <a:rPr lang="en-IN" dirty="0" err="1">
                <a:latin typeface="Courier New" panose="02070309020205020404" pitchFamily="49" charset="0"/>
              </a:rPr>
              <a:t>message":"Employee</a:t>
            </a:r>
            <a:r>
              <a:rPr lang="en-IN" dirty="0">
                <a:latin typeface="Courier New" panose="02070309020205020404" pitchFamily="49" charset="0"/>
              </a:rPr>
              <a:t> Not Found"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Use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@RestControllerAdvice</a:t>
            </a:r>
          </a:p>
          <a:p>
            <a:pPr>
              <a:buNone/>
            </a:pPr>
            <a:r>
              <a:rPr lang="en-IN" dirty="0"/>
              <a:t>for global exception handling.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55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E9E1-1368-3991-AECC-E0526C95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Database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90EE-EA5B-B6F3-71BE-8C90716F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Checklist</a:t>
            </a:r>
          </a:p>
          <a:p>
            <a:pPr>
              <a:buNone/>
            </a:pPr>
            <a:r>
              <a:rPr lang="en-IN" dirty="0"/>
              <a:t>✔ Connection Pool</a:t>
            </a:r>
          </a:p>
          <a:p>
            <a:pPr>
              <a:buNone/>
            </a:pPr>
            <a:r>
              <a:rPr lang="en-IN" dirty="0"/>
              <a:t>✔ Indexes</a:t>
            </a:r>
          </a:p>
          <a:p>
            <a:pPr>
              <a:buNone/>
            </a:pPr>
            <a:r>
              <a:rPr lang="en-IN" dirty="0"/>
              <a:t>✔ Constraints</a:t>
            </a:r>
          </a:p>
          <a:p>
            <a:pPr>
              <a:buNone/>
            </a:pPr>
            <a:r>
              <a:rPr lang="en-IN" dirty="0"/>
              <a:t>✔ Foreign Keys</a:t>
            </a:r>
          </a:p>
          <a:p>
            <a:pPr>
              <a:buNone/>
            </a:pPr>
            <a:r>
              <a:rPr lang="en-IN" dirty="0"/>
              <a:t>✔ Backup</a:t>
            </a:r>
          </a:p>
          <a:p>
            <a:pPr>
              <a:buNone/>
            </a:pPr>
            <a:r>
              <a:rPr lang="en-IN" dirty="0"/>
              <a:t>✔ Restore Plan</a:t>
            </a:r>
          </a:p>
          <a:p>
            <a:pPr>
              <a:buNone/>
            </a:pPr>
            <a:r>
              <a:rPr lang="en-IN" dirty="0"/>
              <a:t>✔ Migration Scripts</a:t>
            </a:r>
          </a:p>
          <a:p>
            <a:pPr>
              <a:buNone/>
            </a:pPr>
            <a:r>
              <a:rPr lang="en-IN" dirty="0"/>
              <a:t>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Flyway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Liquibase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184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388A-8ED8-032E-9940-D68C7A50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Security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1FE15-AB9E-A531-1B6A-772B75C22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✔ HTTPS</a:t>
            </a:r>
          </a:p>
          <a:p>
            <a:pPr>
              <a:buNone/>
            </a:pPr>
            <a:r>
              <a:rPr lang="en-IN" dirty="0"/>
              <a:t>✔ JWT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dirty="0" err="1"/>
              <a:t>BCrypt</a:t>
            </a:r>
            <a:r>
              <a:rPr lang="en-IN" dirty="0"/>
              <a:t> Passwords</a:t>
            </a:r>
          </a:p>
          <a:p>
            <a:pPr>
              <a:buNone/>
            </a:pPr>
            <a:r>
              <a:rPr lang="en-IN" dirty="0"/>
              <a:t>✔ SQL Injection Prevention</a:t>
            </a:r>
          </a:p>
          <a:p>
            <a:pPr>
              <a:buNone/>
            </a:pPr>
            <a:r>
              <a:rPr lang="en-IN" dirty="0"/>
              <a:t>✔ Input Validation</a:t>
            </a:r>
          </a:p>
          <a:p>
            <a:pPr>
              <a:buNone/>
            </a:pPr>
            <a:r>
              <a:rPr lang="en-IN" dirty="0"/>
              <a:t>✔ CORS</a:t>
            </a:r>
          </a:p>
          <a:p>
            <a:pPr>
              <a:buNone/>
            </a:pPr>
            <a:r>
              <a:rPr lang="en-IN" dirty="0"/>
              <a:t>✔ CSRF Protection (when applicable)</a:t>
            </a:r>
          </a:p>
          <a:p>
            <a:pPr>
              <a:buNone/>
            </a:pPr>
            <a:r>
              <a:rPr lang="en-IN" dirty="0"/>
              <a:t>✔ Authentication</a:t>
            </a:r>
          </a:p>
          <a:p>
            <a:pPr>
              <a:buNone/>
            </a:pPr>
            <a:r>
              <a:rPr lang="en-IN" dirty="0"/>
              <a:t>✔ Authorization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002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F36A-18E1-D0C1-2891-593B7644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API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1FD9-58D3-5D22-4DF0-B0B941BE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Enable Swagger/</a:t>
            </a:r>
            <a:r>
              <a:rPr lang="en-IN" dirty="0" err="1"/>
              <a:t>OpenAPI</a:t>
            </a:r>
            <a:r>
              <a:rPr lang="en-IN" dirty="0"/>
              <a:t>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/swagger-ui.html</a:t>
            </a:r>
          </a:p>
          <a:p>
            <a:pPr>
              <a:buNone/>
            </a:pPr>
            <a:r>
              <a:rPr lang="en-IN" dirty="0"/>
              <a:t>or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/swagger-</a:t>
            </a:r>
            <a:r>
              <a:rPr lang="en-IN" dirty="0" err="1">
                <a:latin typeface="Courier New" panose="02070309020205020404" pitchFamily="49" charset="0"/>
              </a:rPr>
              <a:t>ui</a:t>
            </a:r>
            <a:r>
              <a:rPr lang="en-IN" dirty="0">
                <a:latin typeface="Courier New" panose="02070309020205020404" pitchFamily="49" charset="0"/>
              </a:rPr>
              <a:t>/index.html</a:t>
            </a:r>
          </a:p>
          <a:p>
            <a:pPr>
              <a:buNone/>
            </a:pPr>
            <a:r>
              <a:rPr lang="en-IN" dirty="0"/>
              <a:t>Useful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QA Teams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Consumers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79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B7FD-E652-EB06-2294-BAA99E62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12. Performance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5D3D-A4F7-6E91-0597-AC2A43CC8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✔ Pagination</a:t>
            </a:r>
          </a:p>
          <a:p>
            <a:pPr>
              <a:buNone/>
            </a:pPr>
            <a:r>
              <a:rPr lang="en-IN" dirty="0"/>
              <a:t>✔ Caching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dirty="0" err="1"/>
              <a:t>HikariCP</a:t>
            </a:r>
            <a:endParaRPr lang="en-IN" dirty="0"/>
          </a:p>
          <a:p>
            <a:pPr>
              <a:buNone/>
            </a:pPr>
            <a:r>
              <a:rPr lang="en-IN" dirty="0"/>
              <a:t>✔ Efficient Queries</a:t>
            </a:r>
          </a:p>
          <a:p>
            <a:pPr>
              <a:buNone/>
            </a:pPr>
            <a:r>
              <a:rPr lang="en-IN" dirty="0"/>
              <a:t>✔ Compression</a:t>
            </a:r>
          </a:p>
          <a:p>
            <a:pPr>
              <a:buNone/>
            </a:pPr>
            <a:r>
              <a:rPr lang="en-IN" dirty="0"/>
              <a:t>✔ Connection Pooling</a:t>
            </a:r>
          </a:p>
          <a:p>
            <a:pPr>
              <a:buNone/>
            </a:pPr>
            <a:r>
              <a:rPr lang="en-IN" dirty="0"/>
              <a:t>✔ Avoid N+1 Queries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88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733F-B060-2114-167C-BC5F3D1A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13. Backup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1332A-62E7-3E82-A454-F095F14EB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Oracle Database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Daily Backup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Weekly Full Backup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Monthly Archive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Always test restore procedures—not just backups.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55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0180-1F95-76BA-0293-09E4C27F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14. Deployment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2B6C-379E-EFD0-C3AF-A1DC3F0BD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/>
              <a:t>Common deployment approaches:</a:t>
            </a:r>
          </a:p>
          <a:p>
            <a:pPr>
              <a:buNone/>
            </a:pPr>
            <a:r>
              <a:rPr lang="en-IN" b="1" dirty="0"/>
              <a:t>Blue-Green Deployment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Current Version (Blue)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Deploy New Version (Green)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Switch Traffic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Remove Old Version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Minimal downtime and easy rollback.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940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BF2A4E-831E-BD6B-5C9A-806BD05F6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Deployment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3867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C14F8-BE66-D17B-E25C-225B8F6E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Deployment?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2C92A-3F78-9498-488D-0E188BCD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Deployment is the process of making your application available for end users.</a:t>
            </a:r>
          </a:p>
          <a:p>
            <a:pPr marL="0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49CE7-4AB1-33B1-37BD-560C87B2A7E2}"/>
              </a:ext>
            </a:extLst>
          </p:cNvPr>
          <p:cNvSpPr txBox="1"/>
          <p:nvPr/>
        </p:nvSpPr>
        <p:spPr>
          <a:xfrm>
            <a:off x="6256020" y="1850064"/>
            <a:ext cx="5097780" cy="42477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Development Flow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Developer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▼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Coding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▼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Testing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▼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Build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▼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Deploy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▼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Production Server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448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1606-50D1-7AAF-3D3E-30E5F345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DBC2-117F-DDD3-D5A9-0151E2B29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Write Code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Git Commit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Build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Run Tests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Package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Deploy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2863034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A726-D69E-BE0F-0F2F-76D2A389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After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F1CA-447A-FCAC-AC7E-874949CC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CPU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Heap 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Threads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Response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Error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Disk 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 Files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954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9910-9746-5C3F-DEF7-9737D7A6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5684-E079-1D81-8B2C-E06EC0A9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 once and deploy the same artifact to all environments.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environment-specific values outside the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 health checks and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Configure graceful shutdown.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 only what is necessary in production.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Regularly back up the database.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Automate deployments where possible.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 deployments with smoke tests.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9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819</Words>
  <Application>Microsoft Office PowerPoint</Application>
  <PresentationFormat>Widescreen</PresentationFormat>
  <Paragraphs>290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Production Readiness  Checklist&amp; Deployment Configuration Basics</vt:lpstr>
      <vt:lpstr>Production Readiness Checklist</vt:lpstr>
      <vt:lpstr>What is Production Readiness?</vt:lpstr>
      <vt:lpstr>Production Architecture</vt:lpstr>
      <vt:lpstr>Production Readiness Checklist</vt:lpstr>
      <vt:lpstr>1. Externalized Configuration</vt:lpstr>
      <vt:lpstr>2. Spring Profiles</vt:lpstr>
      <vt:lpstr>Secrets Management</vt:lpstr>
      <vt:lpstr>4. Logging Best Practices</vt:lpstr>
      <vt:lpstr>5. Health Checks</vt:lpstr>
      <vt:lpstr>6. Monitoring</vt:lpstr>
      <vt:lpstr>7. Graceful Shutdown</vt:lpstr>
      <vt:lpstr>8. Exception Handling</vt:lpstr>
      <vt:lpstr>9. Database Readiness</vt:lpstr>
      <vt:lpstr>10. Security Checklist</vt:lpstr>
      <vt:lpstr>11. API Documentation</vt:lpstr>
      <vt:lpstr>12. Performance Checklist</vt:lpstr>
      <vt:lpstr>13. Backup Strategy</vt:lpstr>
      <vt:lpstr>14. Deployment Strategy</vt:lpstr>
      <vt:lpstr>Deployment Configuration</vt:lpstr>
      <vt:lpstr>What is Deployment?</vt:lpstr>
      <vt:lpstr>Deployment Lifecycle</vt:lpstr>
      <vt:lpstr>Monitoring After Deployment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Sujata Batra</dc:creator>
  <cp:lastModifiedBy>Sujata Batra</cp:lastModifiedBy>
  <cp:revision>7</cp:revision>
  <dcterms:created xsi:type="dcterms:W3CDTF">2026-07-09T16:32:34Z</dcterms:created>
  <dcterms:modified xsi:type="dcterms:W3CDTF">2026-07-09T16:45:23Z</dcterms:modified>
</cp:coreProperties>
</file>