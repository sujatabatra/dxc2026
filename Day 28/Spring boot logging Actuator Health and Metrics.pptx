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90" r:id="rId3"/>
    <p:sldId id="257" r:id="rId4"/>
    <p:sldId id="258" r:id="rId5"/>
    <p:sldId id="259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0" d="100"/>
          <a:sy n="60" d="100"/>
        </p:scale>
        <p:origin x="91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06C68-B92A-F0D0-17DF-94481A35C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5188A-6C01-AE1C-057B-1BDE036D5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70441-13F9-44FE-D12F-1075DC7D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51EFC-FEB2-1A28-3A07-692CCD19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05A4A-7428-7EB5-E224-4B1319029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231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D717-B083-A044-1FFF-497D31E2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6CE5-59F7-DA4C-760C-9964B9EA5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B88E2-8D42-D2BD-B55F-1F240234C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5537-9307-2863-20A6-80DF94E1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2145C-2F7A-E330-4B71-E29622C2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51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8979-95F9-8028-FA3B-BB4F7B6F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3F70-6B8E-04C2-B0EC-3EF8FBF18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2ACB6-7070-442A-0887-8CB19D15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20B08-6DB0-4EFE-B2AC-F1F479AD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F9E4D-42FB-CBA4-DCA0-BFBFECF79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1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AC3F-7F95-EA13-C1CA-E8FCBE537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6ECF-8B54-DD6F-075F-519B77A60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A7534-CAFF-1389-2C7D-4ACD151D2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D334D-FBF8-0DDC-8930-90EA87B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84360-FBD6-6F44-C7D5-509A1984C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B7453-6191-0090-40F9-7ABFCDDAB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778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D8CB-53A8-023E-9112-180D1F850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71B6-1F73-8203-75E1-418C5505A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3752-012D-E1EB-D865-3BC5834B9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38DC78-82F3-2F9B-9D6A-287D01124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0388DE-CA02-05EC-6AB4-EED438B3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4D4F4B-D788-CAD3-40AB-DE686BC4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C36E8A-E935-F840-3C52-933B4733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B13635-5C0D-EF5D-8E98-EEB01CADF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13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427E-5473-117C-5E76-3FB813526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464ED-265C-8EBF-1E80-49B6DA71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6381D-3C97-2B00-33B5-9EF5ECE01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8E0E7-8D0A-0B62-8B60-C0746154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846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27C56-9B16-A003-9D92-FBA0C5FD3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CFAD5-6C87-8A9B-5EFC-948AAE706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0651DD-5F24-CE3B-043F-DEC6F6E6A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4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F421D-8E44-F4C3-D1B0-DCE30530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FDCBF-AA2D-1AD1-048C-01F6375F0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160F9-8B80-06E9-EAA0-E21AB4C00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DA715-EEA2-9C03-63A6-266ADCB4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100B3-B908-D292-125A-FB17F9A8C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140DC-1072-9D63-44DC-F130CEA55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58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9BB8-85FF-E591-CA9A-72CDB6368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03E9A-96D2-05DA-E14E-A66F6A1177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D503D-1274-7874-27D7-BCF41A50F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DCD2D-74B4-B925-9FA3-1323E563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4575B-2A09-B5FE-006F-522347D98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FD1B-AD3A-683C-B1F4-39E7942E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4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ED26D-F3F2-DA19-D538-CDA814AF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FEB08-1C17-A4DF-DCDD-DDF15ADA7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8753-73D2-7896-C499-71AB828A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8EADD-B457-CB97-5F37-27F110130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BC5CB-831D-A8DF-6E51-E1145F93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1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487C48-E361-11CE-EBE4-F506C5F0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CFCEE-4A97-7D74-9879-3F4B54375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EDA5C-3FEB-9FBB-3246-EB690A078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B0788-A7EB-7D85-8AC4-C7969D901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6E34D-38A6-357B-2490-A26DEA05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92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E5D82-D4B8-0F4D-E3DD-37CC71E03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C21F7-A01A-023C-8E35-47E410615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B4E7F-3FBD-0E05-4A61-539A63B57F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650550-80D8-4B3E-974D-BAC127CAC059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2CAE2-669D-72C0-8DCA-43B3A989A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0F7AE-1F02-FAB8-B16F-DDA248412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B29A3-2227-4FE0-88D4-6191E5A83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131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actuator/metrics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B6F8-7C9F-5BBA-D2ED-CFF1B38FB4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562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/>
              <a:t>Spring Boot –</a:t>
            </a:r>
            <a:br>
              <a:rPr lang="en-IN"/>
            </a:br>
            <a:r>
              <a:rPr lang="en-IN"/>
              <a:t>Logging, Actuators, Health Check, Metrics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98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2997C-5417-650B-5A34-CD434B0077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Spring Boot Logging</a:t>
            </a:r>
          </a:p>
        </p:txBody>
      </p:sp>
    </p:spTree>
    <p:extLst>
      <p:ext uri="{BB962C8B-B14F-4D97-AF65-F5344CB8AC3E}">
        <p14:creationId xmlns:p14="http://schemas.microsoft.com/office/powerpoint/2010/main" val="12391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E1B-97F2-F0B2-D405-BCBB8A49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Logging?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DAB82-38FF-3DAE-B112-11F25F219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720"/>
            <a:ext cx="10515600" cy="482186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Imagine our payroll application is running on a server with thousands of employees.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When an issue occurs, we </a:t>
            </a:r>
            <a:r>
              <a:rPr lang="en-IN" dirty="0">
                <a:solidFill>
                  <a:srgbClr val="FF0000"/>
                </a:solidFill>
              </a:rPr>
              <a:t>cannot</a:t>
            </a:r>
            <a:r>
              <a:rPr lang="en-IN" dirty="0"/>
              <a:t> use: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</a:rPr>
              <a:t>System.out.println</a:t>
            </a:r>
            <a:r>
              <a:rPr lang="en-IN" dirty="0">
                <a:solidFill>
                  <a:srgbClr val="FF0000"/>
                </a:solidFill>
              </a:rPr>
              <a:t>("Employee Saved");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because:</a:t>
            </a:r>
          </a:p>
          <a:p>
            <a:r>
              <a:rPr lang="en-IN" dirty="0"/>
              <a:t>It cannot be filtered. </a:t>
            </a:r>
          </a:p>
          <a:p>
            <a:r>
              <a:rPr lang="en-IN" dirty="0"/>
              <a:t>It cannot be written to log files. </a:t>
            </a:r>
          </a:p>
          <a:p>
            <a:r>
              <a:rPr lang="en-IN" dirty="0"/>
              <a:t>It has no timestamps. </a:t>
            </a:r>
          </a:p>
          <a:p>
            <a:r>
              <a:rPr lang="en-IN" dirty="0"/>
              <a:t>It cannot distinguish INFO from ERROR messages.</a:t>
            </a:r>
          </a:p>
          <a:p>
            <a:r>
              <a:rPr lang="en-IN" dirty="0"/>
              <a:t>It isn't suitable for production systems. </a:t>
            </a:r>
          </a:p>
          <a:p>
            <a:r>
              <a:rPr lang="en-IN" dirty="0"/>
              <a:t>Instead, Spring Boot provides a professional logging framework.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3973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0444-9CC1-0693-4699-C51DE4A9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Logging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21021-C19B-AB3C-6A57-2BBF69D03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0898" y="1825625"/>
            <a:ext cx="7892902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Employee Controller</a:t>
            </a:r>
          </a:p>
          <a:p>
            <a:pPr marL="0" indent="0">
              <a:buNone/>
            </a:pPr>
            <a:r>
              <a:rPr lang="en-IN" dirty="0"/>
              <a:t>        │</a:t>
            </a:r>
          </a:p>
          <a:p>
            <a:pPr marL="0" indent="0">
              <a:buNone/>
            </a:pPr>
            <a:r>
              <a:rPr lang="en-IN" dirty="0"/>
              <a:t>       ▼</a:t>
            </a:r>
          </a:p>
          <a:p>
            <a:pPr marL="0" indent="0">
              <a:buNone/>
            </a:pPr>
            <a:r>
              <a:rPr lang="en-IN" dirty="0"/>
              <a:t> Employee Service</a:t>
            </a:r>
          </a:p>
          <a:p>
            <a:pPr marL="0" indent="0">
              <a:buNone/>
            </a:pPr>
            <a:r>
              <a:rPr lang="en-IN" dirty="0"/>
              <a:t>        │</a:t>
            </a:r>
          </a:p>
          <a:p>
            <a:pPr marL="0" indent="0">
              <a:buNone/>
            </a:pPr>
            <a:r>
              <a:rPr lang="en-IN" dirty="0"/>
              <a:t>       ▼</a:t>
            </a:r>
          </a:p>
          <a:p>
            <a:pPr marL="0" indent="0">
              <a:buNone/>
            </a:pPr>
            <a:r>
              <a:rPr lang="en-IN" dirty="0"/>
              <a:t>    SLF4J Logger</a:t>
            </a:r>
          </a:p>
          <a:p>
            <a:pPr marL="0" indent="0">
              <a:buNone/>
            </a:pPr>
            <a:r>
              <a:rPr lang="en-IN" dirty="0"/>
              <a:t>        │</a:t>
            </a:r>
          </a:p>
          <a:p>
            <a:pPr marL="0" indent="0">
              <a:buNone/>
            </a:pPr>
            <a:r>
              <a:rPr lang="en-IN" dirty="0"/>
              <a:t>       ▼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Logback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┌──────────┐</a:t>
            </a:r>
          </a:p>
          <a:p>
            <a:pPr marL="0" indent="0">
              <a:buNone/>
            </a:pPr>
            <a:r>
              <a:rPr lang="en-IN" dirty="0"/>
              <a:t>   │                         │</a:t>
            </a:r>
          </a:p>
          <a:p>
            <a:pPr marL="0" indent="0">
              <a:buNone/>
            </a:pPr>
            <a:r>
              <a:rPr lang="en-IN" dirty="0"/>
              <a:t>Console     Log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3D7CD6-E2BE-2022-7F3B-6FD0C1D64D6A}"/>
              </a:ext>
            </a:extLst>
          </p:cNvPr>
          <p:cNvSpPr txBox="1"/>
          <p:nvPr/>
        </p:nvSpPr>
        <p:spPr>
          <a:xfrm>
            <a:off x="7075967" y="2429540"/>
            <a:ext cx="46251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Spring Boot uses:</a:t>
            </a:r>
          </a:p>
          <a:p>
            <a:r>
              <a:rPr lang="en-IN" b="1" dirty="0"/>
              <a:t>SLF4J</a:t>
            </a:r>
            <a:r>
              <a:rPr lang="en-IN" dirty="0"/>
              <a:t> as the logging API </a:t>
            </a:r>
          </a:p>
          <a:p>
            <a:r>
              <a:rPr lang="en-IN" b="1" dirty="0" err="1"/>
              <a:t>Logback</a:t>
            </a:r>
            <a:r>
              <a:rPr lang="en-IN" dirty="0"/>
              <a:t> as the default implementation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910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BCBF-1272-C885-7FD4-F99F348F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Framework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35376-F61C-26B8-5B25-BE209D98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Spring Boot includes:</a:t>
            </a:r>
          </a:p>
          <a:p>
            <a:pPr marL="0" indent="0">
              <a:buNone/>
            </a:pPr>
            <a:r>
              <a:rPr lang="en-IN" dirty="0"/>
              <a:t>SLF4J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     </a:t>
            </a:r>
            <a:r>
              <a:rPr lang="en-IN" dirty="0" err="1"/>
              <a:t>Logback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You don't need to add any extra dependency because spring-boot-starter already includes </a:t>
            </a:r>
            <a:r>
              <a:rPr lang="en-IN" dirty="0" err="1"/>
              <a:t>Logback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015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9B3D-D070-F2D0-6350-FBFFD771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Log Level?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8BD55-4EB8-F132-918D-A1262FEA9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A log level defines the importance of a log message. Instead of printing every message, we can control what gets logged.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TRACE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DEBUG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INFO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WARN</a:t>
            </a:r>
            <a:br>
              <a:rPr lang="en-IN" dirty="0"/>
            </a:br>
            <a:r>
              <a:rPr lang="en-IN" dirty="0"/>
              <a:t>   ↓</a:t>
            </a:r>
            <a:br>
              <a:rPr lang="en-IN" dirty="0"/>
            </a:br>
            <a:r>
              <a:rPr lang="en-IN" dirty="0"/>
              <a:t>ERROR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97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0E65-D3B6-04C9-3C25-CC9EED5B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59B1A-AE7B-EF6C-2C59-CB3A91DCE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If you set the logging level to </a:t>
            </a:r>
            <a:r>
              <a:rPr lang="en-IN" b="1" dirty="0"/>
              <a:t>INFO</a:t>
            </a:r>
            <a:r>
              <a:rPr lang="en-IN" dirty="0"/>
              <a:t>, then:</a:t>
            </a:r>
          </a:p>
          <a:p>
            <a:pPr marL="0" indent="0">
              <a:buNone/>
            </a:pPr>
            <a:r>
              <a:rPr lang="en-IN" dirty="0"/>
              <a:t>❌ TRACE is ignored </a:t>
            </a:r>
          </a:p>
          <a:p>
            <a:pPr marL="0" indent="0">
              <a:buNone/>
            </a:pPr>
            <a:r>
              <a:rPr lang="en-IN" dirty="0"/>
              <a:t>❌ DEBUG is ignored </a:t>
            </a:r>
          </a:p>
          <a:p>
            <a:pPr marL="0" indent="0">
              <a:buNone/>
            </a:pPr>
            <a:r>
              <a:rPr lang="en-IN" dirty="0"/>
              <a:t>✅ INFO is logged </a:t>
            </a:r>
          </a:p>
          <a:p>
            <a:pPr marL="0" indent="0">
              <a:buNone/>
            </a:pPr>
            <a:r>
              <a:rPr lang="en-IN" dirty="0"/>
              <a:t>✅ WARN is logged </a:t>
            </a:r>
          </a:p>
          <a:p>
            <a:pPr marL="0" indent="0">
              <a:buNone/>
            </a:pPr>
            <a:r>
              <a:rPr lang="en-IN" dirty="0"/>
              <a:t>✅ ERROR is logged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5507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8F60A-A89D-9351-A57E-A129DC6F9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E3D40-6442-5D55-FBAB-1AD9F12E0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039721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TRACE</a:t>
            </a:r>
          </a:p>
          <a:p>
            <a:pPr lvl="1"/>
            <a:r>
              <a:rPr lang="en-IN" dirty="0"/>
              <a:t>Very detailed internal information.</a:t>
            </a:r>
            <a:br>
              <a:rPr lang="en-IN" dirty="0"/>
            </a:br>
            <a:r>
              <a:rPr lang="en-IN" dirty="0"/>
              <a:t>Example:</a:t>
            </a:r>
          </a:p>
          <a:p>
            <a:pPr lvl="2"/>
            <a:r>
              <a:rPr lang="en-IN" dirty="0"/>
              <a:t>Method Started</a:t>
            </a:r>
          </a:p>
          <a:p>
            <a:pPr lvl="2"/>
            <a:r>
              <a:rPr lang="en-IN" dirty="0"/>
              <a:t>Variable Values</a:t>
            </a:r>
          </a:p>
          <a:p>
            <a:pPr lvl="2"/>
            <a:r>
              <a:rPr lang="en-IN" dirty="0"/>
              <a:t>Loop Iteration</a:t>
            </a:r>
          </a:p>
          <a:p>
            <a:pPr marL="0" indent="0">
              <a:buNone/>
            </a:pPr>
            <a:r>
              <a:rPr lang="en-IN" dirty="0"/>
              <a:t>Avoid enabling </a:t>
            </a:r>
            <a:r>
              <a:rPr lang="en-IN" b="1" dirty="0"/>
              <a:t>TRACE</a:t>
            </a:r>
            <a:r>
              <a:rPr lang="en-IN" dirty="0"/>
              <a:t> in production because it creates huge log files.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DEBUG</a:t>
            </a:r>
          </a:p>
          <a:p>
            <a:pPr lvl="1"/>
            <a:r>
              <a:rPr lang="en-IN" dirty="0"/>
              <a:t>Developer debugging information.</a:t>
            </a:r>
            <a:br>
              <a:rPr lang="en-IN" dirty="0"/>
            </a:br>
            <a:r>
              <a:rPr lang="en-IN" dirty="0"/>
              <a:t>Example</a:t>
            </a:r>
          </a:p>
          <a:p>
            <a:pPr lvl="2"/>
            <a:r>
              <a:rPr lang="en-IN" dirty="0"/>
              <a:t>Employee object created</a:t>
            </a:r>
          </a:p>
          <a:p>
            <a:pPr lvl="2"/>
            <a:r>
              <a:rPr lang="en-IN" dirty="0"/>
              <a:t>SQL generated</a:t>
            </a:r>
          </a:p>
          <a:p>
            <a:pPr lvl="2"/>
            <a:r>
              <a:rPr lang="en-IN" dirty="0"/>
              <a:t>Validation completed</a:t>
            </a:r>
          </a:p>
          <a:p>
            <a:r>
              <a:rPr lang="en-IN" b="1" dirty="0"/>
              <a:t>INFO</a:t>
            </a:r>
          </a:p>
          <a:p>
            <a:pPr lvl="1"/>
            <a:r>
              <a:rPr lang="en-IN" dirty="0"/>
              <a:t>Normal application events.</a:t>
            </a:r>
            <a:br>
              <a:rPr lang="en-IN" dirty="0"/>
            </a:br>
            <a:r>
              <a:rPr lang="en-IN" dirty="0"/>
              <a:t>Example:</a:t>
            </a:r>
          </a:p>
          <a:p>
            <a:pPr lvl="2"/>
            <a:r>
              <a:rPr lang="en-IN" dirty="0"/>
              <a:t>Employee Added</a:t>
            </a:r>
          </a:p>
          <a:p>
            <a:pPr lvl="2"/>
            <a:r>
              <a:rPr lang="en-IN" dirty="0"/>
              <a:t>Payroll Generated</a:t>
            </a:r>
          </a:p>
          <a:p>
            <a:pPr lvl="2"/>
            <a:r>
              <a:rPr lang="en-IN" dirty="0"/>
              <a:t>Login Successful</a:t>
            </a:r>
          </a:p>
          <a:p>
            <a:pPr marL="0" indent="0">
              <a:buNone/>
            </a:pPr>
            <a:r>
              <a:rPr lang="en-IN" dirty="0"/>
              <a:t>These logs are commonly kept in production.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7346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E1299-3845-B8DE-33BF-1233384D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Levels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B5F66-4EA5-9B21-D866-DED180362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0309"/>
            <a:ext cx="11080898" cy="4351338"/>
          </a:xfrm>
        </p:spPr>
        <p:txBody>
          <a:bodyPr>
            <a:normAutofit/>
          </a:bodyPr>
          <a:lstStyle/>
          <a:p>
            <a:r>
              <a:rPr lang="en-IN" b="1" dirty="0"/>
              <a:t>WARN</a:t>
            </a:r>
          </a:p>
          <a:p>
            <a:pPr lvl="1"/>
            <a:r>
              <a:rPr lang="en-IN" dirty="0"/>
              <a:t>Used when something unexpected happens but the application can continue.</a:t>
            </a:r>
            <a:br>
              <a:rPr lang="en-IN" dirty="0"/>
            </a:br>
            <a:r>
              <a:rPr lang="en-IN" dirty="0"/>
              <a:t>Example :</a:t>
            </a:r>
          </a:p>
          <a:p>
            <a:pPr lvl="2"/>
            <a:r>
              <a:rPr lang="en-IN" dirty="0"/>
              <a:t>Salary is negative</a:t>
            </a:r>
          </a:p>
          <a:p>
            <a:pPr lvl="2"/>
            <a:r>
              <a:rPr lang="en-IN" dirty="0"/>
              <a:t>Employee has no projects</a:t>
            </a:r>
          </a:p>
          <a:p>
            <a:r>
              <a:rPr lang="en-IN" b="1" dirty="0"/>
              <a:t>ERROR</a:t>
            </a:r>
          </a:p>
          <a:p>
            <a:pPr lvl="1"/>
            <a:r>
              <a:rPr lang="en-IN" dirty="0"/>
              <a:t>Application failure.</a:t>
            </a:r>
            <a:br>
              <a:rPr lang="en-IN" dirty="0"/>
            </a:br>
            <a:r>
              <a:rPr lang="en-IN" dirty="0"/>
              <a:t>Example:</a:t>
            </a:r>
          </a:p>
          <a:p>
            <a:pPr lvl="2"/>
            <a:r>
              <a:rPr lang="en-IN" dirty="0"/>
              <a:t>Database connection failed</a:t>
            </a:r>
          </a:p>
          <a:p>
            <a:pPr lvl="2"/>
            <a:r>
              <a:rPr lang="en-IN" dirty="0"/>
              <a:t>Employee not found</a:t>
            </a:r>
          </a:p>
          <a:p>
            <a:pPr lvl="2"/>
            <a:r>
              <a:rPr lang="en-IN" dirty="0"/>
              <a:t>Transaction rolled back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07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605C1-9B12-D18D-0666-CE4D1D07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2B2BD-CCA4-4B76-234D-4DBD4EFA7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Log important business events</a:t>
            </a:r>
            <a:br>
              <a:rPr lang="en-IN" b="1" dirty="0"/>
            </a:br>
            <a:r>
              <a:rPr lang="en-IN" b="1" dirty="0"/>
              <a:t>Example:</a:t>
            </a:r>
          </a:p>
          <a:p>
            <a:pPr lvl="1"/>
            <a:r>
              <a:rPr lang="en-IN" dirty="0"/>
              <a:t>Employee Created</a:t>
            </a:r>
          </a:p>
          <a:p>
            <a:pPr lvl="1"/>
            <a:r>
              <a:rPr lang="en-IN" dirty="0"/>
              <a:t>Employee Updated</a:t>
            </a:r>
          </a:p>
          <a:p>
            <a:pPr lvl="1"/>
            <a:r>
              <a:rPr lang="en-IN" dirty="0"/>
              <a:t>Payroll Generated</a:t>
            </a:r>
          </a:p>
          <a:p>
            <a:pPr lvl="1"/>
            <a:endParaRPr lang="en-IN" dirty="0"/>
          </a:p>
          <a:p>
            <a:r>
              <a:rPr lang="en-IN" b="1" dirty="0"/>
              <a:t>Never log passwords</a:t>
            </a:r>
          </a:p>
          <a:p>
            <a:pPr marL="0" indent="0">
              <a:buNone/>
            </a:pPr>
            <a:r>
              <a:rPr lang="en-IN" dirty="0"/>
              <a:t>❌ Wrong</a:t>
            </a:r>
          </a:p>
          <a:p>
            <a:pPr marL="0" indent="0">
              <a:buNone/>
            </a:pPr>
            <a:r>
              <a:rPr lang="en-IN" dirty="0"/>
              <a:t>logger.info("Password={}", password);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✅Correct</a:t>
            </a:r>
          </a:p>
          <a:p>
            <a:pPr marL="0" indent="0">
              <a:buNone/>
            </a:pPr>
            <a:r>
              <a:rPr lang="en-IN" dirty="0"/>
              <a:t>logger.info("Employee Login Successful");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2312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1715-BE64-A44B-53BB-8A15DAD0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C41F-9C29-CA3E-98EA-D2CA9418E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Never log JWT tokens</a:t>
            </a:r>
          </a:p>
          <a:p>
            <a:pPr marL="457200" lvl="1" indent="0">
              <a:buNone/>
            </a:pPr>
            <a:r>
              <a:rPr lang="en-IN" dirty="0"/>
              <a:t>Bearer </a:t>
            </a:r>
            <a:r>
              <a:rPr lang="en-IN" dirty="0" err="1"/>
              <a:t>eyJhbGciOi</a:t>
            </a:r>
            <a:r>
              <a:rPr lang="en-IN" dirty="0"/>
              <a:t>...</a:t>
            </a:r>
          </a:p>
          <a:p>
            <a:pPr marL="0" indent="0">
              <a:buNone/>
            </a:pPr>
            <a:r>
              <a:rPr lang="en-IN" dirty="0"/>
              <a:t>Never print them.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Use parameterized logging</a:t>
            </a:r>
          </a:p>
          <a:p>
            <a:pPr marL="0" indent="0">
              <a:buNone/>
            </a:pPr>
            <a:r>
              <a:rPr lang="en-IN" dirty="0"/>
              <a:t>❌ Wrong</a:t>
            </a:r>
          </a:p>
          <a:p>
            <a:pPr marL="0" indent="0">
              <a:buNone/>
            </a:pPr>
            <a:r>
              <a:rPr lang="en-IN" dirty="0"/>
              <a:t>logger.info("Employee " + </a:t>
            </a:r>
            <a:r>
              <a:rPr lang="en-IN" dirty="0" err="1"/>
              <a:t>emp.getName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✅ Correct</a:t>
            </a:r>
          </a:p>
          <a:p>
            <a:pPr marL="0" indent="0">
              <a:buNone/>
            </a:pPr>
            <a:r>
              <a:rPr lang="en-IN" dirty="0"/>
              <a:t>logger.info("Employee {} created", </a:t>
            </a:r>
            <a:r>
              <a:rPr lang="en-IN" dirty="0" err="1"/>
              <a:t>emp.getName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This avoids unnecessary string creation when the log level is disabled.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053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F26C-E219-3C25-3740-113109F1B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Logging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B3C6-3662-05BD-BBFB-C3EB2130E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Log exceptions correctly</a:t>
            </a:r>
          </a:p>
          <a:p>
            <a:pPr marL="0" indent="0">
              <a:buNone/>
            </a:pPr>
            <a:r>
              <a:rPr lang="en-IN" dirty="0"/>
              <a:t>❌ Wrong</a:t>
            </a:r>
          </a:p>
          <a:p>
            <a:pPr marL="0" indent="0">
              <a:buNone/>
            </a:pPr>
            <a:r>
              <a:rPr lang="en-IN" dirty="0" err="1"/>
              <a:t>logger.error</a:t>
            </a:r>
            <a:r>
              <a:rPr lang="en-IN" dirty="0"/>
              <a:t>(</a:t>
            </a:r>
            <a:r>
              <a:rPr lang="en-IN" dirty="0" err="1"/>
              <a:t>e.getMessage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✅ Correct</a:t>
            </a:r>
          </a:p>
          <a:p>
            <a:pPr marL="0" indent="0">
              <a:buNone/>
            </a:pPr>
            <a:r>
              <a:rPr lang="en-IN" dirty="0" err="1"/>
              <a:t>logger.error</a:t>
            </a:r>
            <a:r>
              <a:rPr lang="en-IN" dirty="0"/>
              <a:t>("Unable to save employee", e);</a:t>
            </a:r>
          </a:p>
          <a:p>
            <a:pPr marL="0" indent="0">
              <a:buNone/>
            </a:pPr>
            <a:r>
              <a:rPr lang="en-IN" dirty="0"/>
              <a:t>This logs the full stack trace.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612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5E29F-0DB5-4387-741C-0C7898F1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Configure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71D7-A9AC-22A5-57F8-70A3975BA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err="1"/>
              <a:t>application.properties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&lt;/&gt; properties</a:t>
            </a:r>
          </a:p>
          <a:p>
            <a:pPr marL="0" indent="0">
              <a:buNone/>
            </a:pPr>
            <a:r>
              <a:rPr lang="en-IN" dirty="0" err="1"/>
              <a:t>logging.level.root</a:t>
            </a:r>
            <a:r>
              <a:rPr lang="en-IN" dirty="0"/>
              <a:t>=INFO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 err="1"/>
              <a:t>logging.level.com.sujata</a:t>
            </a:r>
            <a:r>
              <a:rPr lang="en-IN" dirty="0"/>
              <a:t>=DEBUG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logging.file.name=logs/payroll.log</a:t>
            </a:r>
          </a:p>
        </p:txBody>
      </p:sp>
    </p:spTree>
    <p:extLst>
      <p:ext uri="{BB962C8B-B14F-4D97-AF65-F5344CB8AC3E}">
        <p14:creationId xmlns:p14="http://schemas.microsoft.com/office/powerpoint/2010/main" val="1355709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83C56-EF33-3427-4F7B-FE1E873BD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EmployeeService.java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47276-A902-E5DD-BCA2-10063E7A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446" y="1483353"/>
            <a:ext cx="10515600" cy="524705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package </a:t>
            </a:r>
            <a:r>
              <a:rPr lang="en-IN" dirty="0" err="1"/>
              <a:t>com.sujata.service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import org.slf4j.Logger;</a:t>
            </a:r>
            <a:br>
              <a:rPr lang="en-IN" b="1" dirty="0"/>
            </a:br>
            <a:r>
              <a:rPr lang="en-IN" b="1" dirty="0"/>
              <a:t>import org.slf4j.LoggerFactory;</a:t>
            </a:r>
            <a:br>
              <a:rPr lang="en-IN" b="1" dirty="0"/>
            </a:br>
            <a:r>
              <a:rPr lang="en-IN" dirty="0"/>
              <a:t>import </a:t>
            </a:r>
            <a:r>
              <a:rPr lang="en-IN" dirty="0" err="1"/>
              <a:t>org.springframework.stereotype.Service</a:t>
            </a:r>
            <a:r>
              <a:rPr lang="en-IN" dirty="0"/>
              <a:t>;</a:t>
            </a:r>
            <a:br>
              <a:rPr lang="en-IN" dirty="0"/>
            </a:br>
            <a:r>
              <a:rPr lang="en-IN" b="1" dirty="0"/>
              <a:t>import</a:t>
            </a:r>
            <a:r>
              <a:rPr lang="en-IN" dirty="0"/>
              <a:t> </a:t>
            </a:r>
            <a:r>
              <a:rPr lang="en-IN" dirty="0" err="1"/>
              <a:t>org.springframework.beans.factory.annotation.Autowired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@Service</a:t>
            </a:r>
            <a:br>
              <a:rPr lang="en-IN" dirty="0"/>
            </a:br>
            <a:r>
              <a:rPr lang="en-IN" dirty="0"/>
              <a:t>public class </a:t>
            </a:r>
            <a:r>
              <a:rPr lang="en-IN" dirty="0" err="1"/>
              <a:t>EmployeeService</a:t>
            </a:r>
            <a:r>
              <a:rPr lang="en-IN" dirty="0"/>
              <a:t> {</a:t>
            </a:r>
            <a:br>
              <a:rPr lang="en-IN" dirty="0"/>
            </a:br>
            <a:br>
              <a:rPr lang="en-IN" dirty="0"/>
            </a:br>
            <a:r>
              <a:rPr lang="en-IN" b="1" dirty="0"/>
              <a:t>private static final Logger </a:t>
            </a:r>
            <a:r>
              <a:rPr lang="en-IN" b="1" dirty="0" err="1"/>
              <a:t>logger</a:t>
            </a:r>
            <a:r>
              <a:rPr lang="en-IN" b="1" dirty="0"/>
              <a:t> =</a:t>
            </a:r>
            <a:r>
              <a:rPr lang="en-IN" b="1" dirty="0" err="1"/>
              <a:t>LoggerFactory.getLogger</a:t>
            </a:r>
            <a:r>
              <a:rPr lang="en-IN" b="1" dirty="0"/>
              <a:t>(</a:t>
            </a:r>
            <a:r>
              <a:rPr lang="en-IN" b="1" dirty="0" err="1"/>
              <a:t>EmployeeService.class</a:t>
            </a:r>
            <a:r>
              <a:rPr lang="en-IN" b="1" dirty="0"/>
              <a:t>);</a:t>
            </a:r>
            <a:br>
              <a:rPr lang="en-IN" dirty="0"/>
            </a:br>
            <a:r>
              <a:rPr lang="en-IN" dirty="0"/>
              <a:t>@Autowired</a:t>
            </a:r>
            <a:br>
              <a:rPr lang="en-IN" dirty="0"/>
            </a:br>
            <a:r>
              <a:rPr lang="en-IN" dirty="0"/>
              <a:t>private </a:t>
            </a:r>
            <a:r>
              <a:rPr lang="en-IN" dirty="0" err="1"/>
              <a:t>EmployeeRepository</a:t>
            </a:r>
            <a:r>
              <a:rPr lang="en-IN" dirty="0"/>
              <a:t> repository;</a:t>
            </a:r>
          </a:p>
          <a:p>
            <a:pPr marL="0" indent="0">
              <a:buNone/>
            </a:pPr>
            <a:r>
              <a:rPr lang="en-IN" dirty="0"/>
              <a:t>public Employee </a:t>
            </a:r>
            <a:r>
              <a:rPr lang="en-IN" dirty="0" err="1"/>
              <a:t>saveEmployee</a:t>
            </a:r>
            <a:r>
              <a:rPr lang="en-IN" dirty="0"/>
              <a:t>(Employee employee)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logger.info("Saving employee {}", </a:t>
            </a:r>
            <a:r>
              <a:rPr lang="en-IN" b="1" dirty="0" err="1"/>
              <a:t>employee.getEmpName</a:t>
            </a:r>
            <a:r>
              <a:rPr lang="en-IN" b="1" dirty="0"/>
              <a:t>());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Employee </a:t>
            </a:r>
            <a:r>
              <a:rPr lang="en-IN" dirty="0" err="1"/>
              <a:t>savedEmployee</a:t>
            </a:r>
            <a:r>
              <a:rPr lang="en-IN" dirty="0"/>
              <a:t> = </a:t>
            </a:r>
            <a:r>
              <a:rPr lang="en-IN" dirty="0" err="1"/>
              <a:t>repository.save</a:t>
            </a:r>
            <a:r>
              <a:rPr lang="en-IN" dirty="0"/>
              <a:t>(employee);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b="1" dirty="0"/>
              <a:t>logger.info("Employee saved successfully with ID {}",</a:t>
            </a:r>
            <a:r>
              <a:rPr lang="en-IN" b="1" dirty="0" err="1"/>
              <a:t>savedEmployee.getEmpId</a:t>
            </a:r>
            <a:r>
              <a:rPr lang="en-IN" b="1" dirty="0"/>
              <a:t>());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savedEmployee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98895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1154-5673-FBA7-FF60-8729E3CB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6F216-DE26-BD6E-23BD-703B39821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Easy debugging </a:t>
            </a:r>
          </a:p>
          <a:p>
            <a:r>
              <a:rPr lang="en-IN" dirty="0"/>
              <a:t>Production monitoring </a:t>
            </a:r>
          </a:p>
          <a:p>
            <a:r>
              <a:rPr lang="en-IN" dirty="0"/>
              <a:t>Audit trail</a:t>
            </a:r>
          </a:p>
          <a:p>
            <a:r>
              <a:rPr lang="en-IN" dirty="0"/>
              <a:t> Faster issue diagnosis </a:t>
            </a:r>
          </a:p>
          <a:p>
            <a:r>
              <a:rPr lang="en-IN" dirty="0"/>
              <a:t>Integration with monitoring tools </a:t>
            </a:r>
          </a:p>
          <a:p>
            <a:r>
              <a:rPr lang="en-IN" dirty="0"/>
              <a:t>Centralized logging support</a:t>
            </a:r>
          </a:p>
        </p:txBody>
      </p:sp>
    </p:spTree>
    <p:extLst>
      <p:ext uri="{BB962C8B-B14F-4D97-AF65-F5344CB8AC3E}">
        <p14:creationId xmlns:p14="http://schemas.microsoft.com/office/powerpoint/2010/main" val="1445698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02DB-99FE-3F8A-A71B-B109DFADF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to customize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FD5D-F07C-205D-7B46-EB4DF0CB0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 1 – Create logback-spring.xml</a:t>
            </a:r>
          </a:p>
          <a:p>
            <a:pPr marL="0" indent="0">
              <a:buNone/>
            </a:pPr>
            <a:r>
              <a:rPr lang="en-IN" dirty="0"/>
              <a:t>Create this file under:</a:t>
            </a:r>
          </a:p>
          <a:p>
            <a:pPr marL="0" indent="0">
              <a:buNone/>
            </a:pPr>
            <a:r>
              <a:rPr lang="en-IN" dirty="0" err="1"/>
              <a:t>src</a:t>
            </a:r>
            <a:r>
              <a:rPr lang="en-IN" dirty="0"/>
              <a:t>/main/resources/logback-spring.xml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5224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236D-709F-DD31-294B-EC0830B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logback-spring.xml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EF8A-584D-DC87-1668-92DEB8D0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&lt;?xml version="1.0" encoding="UTF-8"?&gt;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&lt;configuration&gt;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&lt;include resource="org/</a:t>
            </a:r>
            <a:r>
              <a:rPr lang="en-IN" dirty="0" err="1"/>
              <a:t>springframework</a:t>
            </a:r>
            <a:r>
              <a:rPr lang="en-IN" dirty="0"/>
              <a:t>/boot/logging/</a:t>
            </a:r>
            <a:r>
              <a:rPr lang="en-IN" dirty="0" err="1"/>
              <a:t>logback</a:t>
            </a:r>
            <a:r>
              <a:rPr lang="en-IN" dirty="0"/>
              <a:t>/defaults.xml"/&gt;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&lt;include resource="org/</a:t>
            </a:r>
            <a:r>
              <a:rPr lang="en-IN" dirty="0" err="1"/>
              <a:t>springframework</a:t>
            </a:r>
            <a:r>
              <a:rPr lang="en-IN" dirty="0"/>
              <a:t>/boot/logging/</a:t>
            </a:r>
            <a:r>
              <a:rPr lang="en-IN" dirty="0" err="1"/>
              <a:t>logback</a:t>
            </a:r>
            <a:r>
              <a:rPr lang="en-IN" dirty="0"/>
              <a:t>/console-appender.xml"/&gt;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&lt;root level="INFO"&gt;</a:t>
            </a:r>
          </a:p>
          <a:p>
            <a:pPr marL="0" indent="0">
              <a:buNone/>
            </a:pPr>
            <a:r>
              <a:rPr lang="en-IN" dirty="0"/>
              <a:t>        &lt;</a:t>
            </a:r>
            <a:r>
              <a:rPr lang="en-IN" dirty="0" err="1"/>
              <a:t>appender</a:t>
            </a:r>
            <a:r>
              <a:rPr lang="en-IN" dirty="0"/>
              <a:t>-ref ref="CONSOLE"/&gt;</a:t>
            </a:r>
          </a:p>
          <a:p>
            <a:pPr marL="0" indent="0">
              <a:buNone/>
            </a:pPr>
            <a:r>
              <a:rPr lang="en-IN" dirty="0"/>
              <a:t>    &lt;/root&gt;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&lt;/configuration&gt;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53C8C-5D44-4BFD-A990-52F67ABDD4FC}"/>
              </a:ext>
            </a:extLst>
          </p:cNvPr>
          <p:cNvSpPr txBox="1"/>
          <p:nvPr/>
        </p:nvSpPr>
        <p:spPr>
          <a:xfrm>
            <a:off x="659219" y="6176963"/>
            <a:ext cx="968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This logs everything at INFO level and above to the console.</a:t>
            </a:r>
          </a:p>
        </p:txBody>
      </p:sp>
    </p:spTree>
    <p:extLst>
      <p:ext uri="{BB962C8B-B14F-4D97-AF65-F5344CB8AC3E}">
        <p14:creationId xmlns:p14="http://schemas.microsoft.com/office/powerpoint/2010/main" val="1340041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BE9E-E092-730C-71CC-80AD77CDB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– Add a File </a:t>
            </a:r>
            <a:r>
              <a:rPr lang="en-IN" dirty="0" err="1"/>
              <a:t>Appender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53C33-CCB6-CEC0-E533-FDC9E5115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68"/>
            <a:ext cx="10515600" cy="513190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appender</a:t>
            </a:r>
            <a:r>
              <a:rPr lang="en-IN" dirty="0"/>
              <a:t> name="FILE"</a:t>
            </a:r>
          </a:p>
          <a:p>
            <a:pPr marL="0" indent="0">
              <a:buNone/>
            </a:pPr>
            <a:r>
              <a:rPr lang="en-IN" dirty="0"/>
              <a:t>          class="</a:t>
            </a:r>
            <a:r>
              <a:rPr lang="en-IN" dirty="0" err="1"/>
              <a:t>ch.qos.logback.core.FileAppender</a:t>
            </a:r>
            <a:r>
              <a:rPr lang="en-IN" dirty="0"/>
              <a:t>"&gt;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&lt;file&gt;logs/payroll.log&lt;/file&gt;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&lt;encoder&gt;</a:t>
            </a:r>
          </a:p>
          <a:p>
            <a:pPr marL="0" indent="0">
              <a:buNone/>
            </a:pPr>
            <a:r>
              <a:rPr lang="en-IN" dirty="0"/>
              <a:t>        &lt;pattern&gt;</a:t>
            </a:r>
          </a:p>
          <a:p>
            <a:pPr marL="0" indent="0">
              <a:buNone/>
            </a:pPr>
            <a:r>
              <a:rPr lang="en-IN" dirty="0"/>
              <a:t>            %d{</a:t>
            </a:r>
            <a:r>
              <a:rPr lang="en-IN" dirty="0" err="1"/>
              <a:t>yyyy</a:t>
            </a:r>
            <a:r>
              <a:rPr lang="en-IN" dirty="0"/>
              <a:t>-MM-dd </a:t>
            </a:r>
            <a:r>
              <a:rPr lang="en-IN" dirty="0" err="1"/>
              <a:t>HH:mm:ss</a:t>
            </a: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           [%thread]</a:t>
            </a:r>
          </a:p>
          <a:p>
            <a:pPr marL="0" indent="0">
              <a:buNone/>
            </a:pPr>
            <a:r>
              <a:rPr lang="en-IN" dirty="0"/>
              <a:t>            %-5level</a:t>
            </a:r>
          </a:p>
          <a:p>
            <a:pPr marL="0" indent="0">
              <a:buNone/>
            </a:pPr>
            <a:r>
              <a:rPr lang="en-IN" dirty="0"/>
              <a:t>            %logger{36}</a:t>
            </a:r>
          </a:p>
          <a:p>
            <a:pPr marL="0" indent="0">
              <a:buNone/>
            </a:pPr>
            <a:r>
              <a:rPr lang="en-IN" dirty="0"/>
              <a:t>            -</a:t>
            </a:r>
          </a:p>
          <a:p>
            <a:pPr marL="0" indent="0">
              <a:buNone/>
            </a:pPr>
            <a:r>
              <a:rPr lang="en-IN" dirty="0"/>
              <a:t>            %</a:t>
            </a:r>
            <a:r>
              <a:rPr lang="en-IN" dirty="0" err="1"/>
              <a:t>msg%n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&lt;/pattern&gt;</a:t>
            </a:r>
          </a:p>
          <a:p>
            <a:pPr marL="0" indent="0">
              <a:buNone/>
            </a:pPr>
            <a:r>
              <a:rPr lang="en-IN" dirty="0"/>
              <a:t>    &lt;/encoder&gt;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appender</a:t>
            </a:r>
            <a:r>
              <a:rPr lang="en-IN" dirty="0"/>
              <a:t>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DB104-C8CC-7664-EC92-41B969014476}"/>
              </a:ext>
            </a:extLst>
          </p:cNvPr>
          <p:cNvSpPr txBox="1"/>
          <p:nvPr/>
        </p:nvSpPr>
        <p:spPr>
          <a:xfrm>
            <a:off x="7474688" y="2503967"/>
            <a:ext cx="36522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writes logs to:</a:t>
            </a:r>
          </a:p>
          <a:p>
            <a:r>
              <a:rPr lang="en-IN" dirty="0"/>
              <a:t>logs/payroll.log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4130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F46B-6F19-A9E6-9D6B-40B848B43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 – Write to Both Console and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F8073-513D-6604-2041-FC0A1DC0E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9638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&lt;root level="INFO"&gt;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&lt;</a:t>
            </a:r>
            <a:r>
              <a:rPr lang="en-US" sz="2000" dirty="0" err="1"/>
              <a:t>appender</a:t>
            </a:r>
            <a:r>
              <a:rPr lang="en-US" sz="2000" dirty="0"/>
              <a:t>-ref ref="CONSOLE"/&gt;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&lt;</a:t>
            </a:r>
            <a:r>
              <a:rPr lang="en-US" sz="2000" dirty="0" err="1"/>
              <a:t>appender</a:t>
            </a:r>
            <a:r>
              <a:rPr lang="en-US" sz="2000" dirty="0"/>
              <a:t>-ref ref="FILE"/&gt;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&lt;/root&gt;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Now logs appear in both the terminal and the log file.</a:t>
            </a:r>
          </a:p>
        </p:txBody>
      </p:sp>
    </p:spTree>
    <p:extLst>
      <p:ext uri="{BB962C8B-B14F-4D97-AF65-F5344CB8AC3E}">
        <p14:creationId xmlns:p14="http://schemas.microsoft.com/office/powerpoint/2010/main" val="1797933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DD72-80A5-1C03-2A81-708F3B4D9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 – Rolling Log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4C37B-24A8-B974-04C7-E58683290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926"/>
            <a:ext cx="10515600" cy="4699037"/>
          </a:xfrm>
        </p:spPr>
        <p:txBody>
          <a:bodyPr/>
          <a:lstStyle/>
          <a:p>
            <a:r>
              <a:rPr lang="en-IN" sz="2400" dirty="0"/>
              <a:t>Instead of one continuously growing file, create a new log file every day.</a:t>
            </a:r>
          </a:p>
          <a:p>
            <a:r>
              <a:rPr lang="en-IN" sz="2400" dirty="0"/>
              <a:t>Replace the </a:t>
            </a:r>
            <a:r>
              <a:rPr lang="en-IN" sz="2400" dirty="0" err="1"/>
              <a:t>FileAppender</a:t>
            </a:r>
            <a:r>
              <a:rPr lang="en-IN" sz="2400" dirty="0"/>
              <a:t> with: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55167-E945-98F8-1084-210AB11CC483}"/>
              </a:ext>
            </a:extLst>
          </p:cNvPr>
          <p:cNvSpPr txBox="1"/>
          <p:nvPr/>
        </p:nvSpPr>
        <p:spPr>
          <a:xfrm>
            <a:off x="505047" y="2503969"/>
            <a:ext cx="111819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&lt;</a:t>
            </a:r>
            <a:r>
              <a:rPr lang="en-IN" dirty="0" err="1"/>
              <a:t>appender</a:t>
            </a:r>
            <a:r>
              <a:rPr lang="en-IN" dirty="0"/>
              <a:t> name="FILE"</a:t>
            </a:r>
            <a:br>
              <a:rPr lang="en-IN" dirty="0"/>
            </a:br>
            <a:r>
              <a:rPr lang="en-IN" dirty="0"/>
              <a:t>class="</a:t>
            </a:r>
            <a:r>
              <a:rPr lang="en-IN" dirty="0" err="1"/>
              <a:t>ch.qos.logback.core.rolling.RollingFileAppender</a:t>
            </a:r>
            <a:r>
              <a:rPr lang="en-IN" dirty="0"/>
              <a:t>"&gt;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&lt;file&gt;logs/payroll.log&lt;/file&gt;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rollingPolicy</a:t>
            </a:r>
            <a:br>
              <a:rPr lang="en-IN" dirty="0"/>
            </a:br>
            <a:r>
              <a:rPr lang="en-IN" dirty="0"/>
              <a:t>class="</a:t>
            </a:r>
            <a:r>
              <a:rPr lang="en-IN" dirty="0" err="1"/>
              <a:t>ch.qos.logback.core.rolling.TimeBasedRollingPolicy</a:t>
            </a:r>
            <a:r>
              <a:rPr lang="en-IN" dirty="0"/>
              <a:t>"&gt;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fileNamePattern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logs/payroll-%d{yyyy-MM-dd}.log</a:t>
            </a:r>
            <a:br>
              <a:rPr lang="en-IN" dirty="0"/>
            </a:br>
            <a:r>
              <a:rPr lang="en-IN" dirty="0"/>
              <a:t>&lt;/</a:t>
            </a:r>
            <a:r>
              <a:rPr lang="en-IN" dirty="0" err="1"/>
              <a:t>fileNamePattern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</a:t>
            </a:r>
            <a:r>
              <a:rPr lang="en-IN" dirty="0" err="1"/>
              <a:t>maxHistory</a:t>
            </a:r>
            <a:r>
              <a:rPr lang="en-IN" dirty="0"/>
              <a:t>&gt;30&lt;/</a:t>
            </a:r>
            <a:r>
              <a:rPr lang="en-IN" dirty="0" err="1"/>
              <a:t>maxHistory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&lt;/</a:t>
            </a:r>
            <a:r>
              <a:rPr lang="en-IN" dirty="0" err="1"/>
              <a:t>rollingPolicy</a:t>
            </a:r>
            <a:r>
              <a:rPr lang="en-IN" dirty="0"/>
              <a:t>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CBE886-2254-23DE-FDC7-4070B85B4614}"/>
              </a:ext>
            </a:extLst>
          </p:cNvPr>
          <p:cNvSpPr txBox="1"/>
          <p:nvPr/>
        </p:nvSpPr>
        <p:spPr>
          <a:xfrm>
            <a:off x="7852144" y="2503969"/>
            <a:ext cx="39925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&lt;encoder&gt;</a:t>
            </a:r>
            <a:br>
              <a:rPr lang="en-IN" dirty="0"/>
            </a:br>
            <a:r>
              <a:rPr lang="en-IN" dirty="0"/>
              <a:t>&lt;pattern&gt;</a:t>
            </a:r>
            <a:br>
              <a:rPr lang="en-IN" dirty="0"/>
            </a:br>
            <a:r>
              <a:rPr lang="en-IN" dirty="0"/>
              <a:t>%d{</a:t>
            </a:r>
            <a:r>
              <a:rPr lang="en-IN" dirty="0" err="1"/>
              <a:t>yyyy</a:t>
            </a:r>
            <a:r>
              <a:rPr lang="en-IN" dirty="0"/>
              <a:t>-MM-dd </a:t>
            </a:r>
            <a:r>
              <a:rPr lang="en-IN" dirty="0" err="1"/>
              <a:t>HH:mm:ss</a:t>
            </a: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[%thread]</a:t>
            </a:r>
            <a:br>
              <a:rPr lang="en-IN" dirty="0"/>
            </a:br>
            <a:r>
              <a:rPr lang="en-IN" dirty="0"/>
              <a:t>%-5level</a:t>
            </a:r>
            <a:br>
              <a:rPr lang="en-IN" dirty="0"/>
            </a:br>
            <a:r>
              <a:rPr lang="en-IN" dirty="0"/>
              <a:t>%logger{36}</a:t>
            </a:r>
            <a:br>
              <a:rPr lang="en-IN" dirty="0"/>
            </a:br>
            <a:r>
              <a:rPr lang="en-IN" dirty="0"/>
              <a:t>-</a:t>
            </a:r>
            <a:br>
              <a:rPr lang="en-IN" dirty="0"/>
            </a:br>
            <a:r>
              <a:rPr lang="en-IN" dirty="0"/>
              <a:t>%</a:t>
            </a:r>
            <a:r>
              <a:rPr lang="en-IN" dirty="0" err="1"/>
              <a:t>msg%n</a:t>
            </a:r>
            <a:br>
              <a:rPr lang="en-IN" dirty="0"/>
            </a:br>
            <a:r>
              <a:rPr lang="en-IN" dirty="0"/>
              <a:t>&lt;/pattern&gt;</a:t>
            </a:r>
            <a:br>
              <a:rPr lang="en-IN" dirty="0"/>
            </a:br>
            <a:r>
              <a:rPr lang="en-IN" dirty="0"/>
              <a:t>&lt;/encoder&gt;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&lt;/</a:t>
            </a:r>
            <a:r>
              <a:rPr lang="en-IN" dirty="0" err="1"/>
              <a:t>appender</a:t>
            </a:r>
            <a:r>
              <a:rPr lang="en-IN" dirty="0"/>
              <a:t>&gt;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309D71A-4106-1089-9C40-6D37100F0FBD}"/>
              </a:ext>
            </a:extLst>
          </p:cNvPr>
          <p:cNvCxnSpPr/>
          <p:nvPr/>
        </p:nvCxnSpPr>
        <p:spPr>
          <a:xfrm>
            <a:off x="7235456" y="2503969"/>
            <a:ext cx="0" cy="41201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9035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01BD4-7A06-5058-B10F-BDE25F15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 – Package-Specific Log Levels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5CAEA7-E3C4-69E8-83BC-ADB54AF95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Suppose you only want detailed logs for your service package:</a:t>
            </a:r>
          </a:p>
          <a:p>
            <a:pPr marL="0" indent="0">
              <a:buNone/>
            </a:pPr>
            <a:r>
              <a:rPr lang="en-IN" dirty="0"/>
              <a:t>&lt;logger name="</a:t>
            </a:r>
            <a:r>
              <a:rPr lang="en-IN" dirty="0" err="1"/>
              <a:t>com.sujata.service</a:t>
            </a:r>
            <a:r>
              <a:rPr lang="en-IN" dirty="0"/>
              <a:t>"</a:t>
            </a:r>
            <a:br>
              <a:rPr lang="en-IN" dirty="0"/>
            </a:br>
            <a:r>
              <a:rPr lang="en-IN" dirty="0"/>
              <a:t>        level="DEBUG"/&gt;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Now:</a:t>
            </a:r>
          </a:p>
          <a:p>
            <a:r>
              <a:rPr lang="en-IN" dirty="0" err="1"/>
              <a:t>com.sujata.service</a:t>
            </a:r>
            <a:r>
              <a:rPr lang="en-IN" dirty="0"/>
              <a:t> → DEBUG and above </a:t>
            </a:r>
          </a:p>
          <a:p>
            <a:r>
              <a:rPr lang="en-IN" dirty="0"/>
              <a:t>Other packages → INFO and above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is useful because business logic often needs more detailed logging than the rest of the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524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08B6D-6EA0-D6B5-8365-94052176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0D54F-7BC3-5F28-0BB4-FBA8AAF2B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 TRACE sparingly. </a:t>
            </a:r>
          </a:p>
          <a:p>
            <a:r>
              <a:rPr lang="en-IN" dirty="0"/>
              <a:t>Keep DEBUG enabled only where needed. </a:t>
            </a:r>
          </a:p>
          <a:p>
            <a:r>
              <a:rPr lang="en-IN" dirty="0"/>
              <a:t>Log business events at INFO. </a:t>
            </a:r>
          </a:p>
          <a:p>
            <a:r>
              <a:rPr lang="en-IN" dirty="0"/>
              <a:t>Use WARN for recoverable issues. </a:t>
            </a:r>
          </a:p>
          <a:p>
            <a:r>
              <a:rPr lang="en-IN" dirty="0"/>
              <a:t>Log failures with ERROR and include the exception object. </a:t>
            </a:r>
          </a:p>
          <a:p>
            <a:r>
              <a:rPr lang="en-IN" dirty="0"/>
              <a:t>Never log passwords, API keys, JWT tokens, or sensitive personal information. </a:t>
            </a:r>
          </a:p>
          <a:p>
            <a:r>
              <a:rPr lang="en-IN" dirty="0"/>
              <a:t>Use rolling log files to prevent unlimited file growth.</a:t>
            </a:r>
          </a:p>
        </p:txBody>
      </p:sp>
    </p:spTree>
    <p:extLst>
      <p:ext uri="{BB962C8B-B14F-4D97-AF65-F5344CB8AC3E}">
        <p14:creationId xmlns:p14="http://schemas.microsoft.com/office/powerpoint/2010/main" val="212589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E0BD6-1231-19BB-88FC-41698B3B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Actuator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AED7E9-7ABF-C7F5-21A5-EB5E72DAE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232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76B8D7-A21D-7206-ACD2-5D010F8BA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Spring Boot Actuator?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FEA2E0-59D2-5D8C-0DAF-A9E1C6CD3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Spring Boot Actuator</a:t>
            </a:r>
            <a:r>
              <a:rPr lang="en-IN" dirty="0"/>
              <a:t> provides this operational information through ready-made endpoints.</a:t>
            </a:r>
          </a:p>
          <a:p>
            <a:pPr marL="0" indent="0">
              <a:buNone/>
            </a:pPr>
            <a:r>
              <a:rPr lang="en-IN" dirty="0"/>
              <a:t>Like</a:t>
            </a:r>
          </a:p>
          <a:p>
            <a:r>
              <a:rPr lang="en-IN" dirty="0"/>
              <a:t>Is the application running? </a:t>
            </a:r>
          </a:p>
          <a:p>
            <a:r>
              <a:rPr lang="en-IN" dirty="0"/>
              <a:t>Is the database connected? </a:t>
            </a:r>
          </a:p>
          <a:p>
            <a:r>
              <a:rPr lang="en-IN" dirty="0"/>
              <a:t>How much memory is being used?</a:t>
            </a:r>
          </a:p>
          <a:p>
            <a:r>
              <a:rPr lang="en-IN" dirty="0"/>
              <a:t> How many HTTP requests are coming in? </a:t>
            </a:r>
          </a:p>
          <a:p>
            <a:r>
              <a:rPr lang="en-IN" dirty="0"/>
              <a:t>Which beans are loaded? </a:t>
            </a:r>
          </a:p>
          <a:p>
            <a:r>
              <a:rPr lang="en-IN" dirty="0"/>
              <a:t>Which endpoints are available?</a:t>
            </a:r>
          </a:p>
        </p:txBody>
      </p:sp>
    </p:spTree>
    <p:extLst>
      <p:ext uri="{BB962C8B-B14F-4D97-AF65-F5344CB8AC3E}">
        <p14:creationId xmlns:p14="http://schemas.microsoft.com/office/powerpoint/2010/main" val="4075142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4DBF-0A40-8B9D-A043-E76D70181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Without Actuator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AF018-C214-C836-CE42-90795A643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                Employee Payroll Application</a:t>
            </a:r>
            <a:br>
              <a:rPr lang="en-IN" dirty="0"/>
            </a:br>
            <a:r>
              <a:rPr lang="en-IN" dirty="0"/>
              <a:t>                         │</a:t>
            </a:r>
            <a:br>
              <a:rPr lang="en-IN" dirty="0"/>
            </a:br>
            <a:r>
              <a:rPr lang="en-IN" dirty="0"/>
              <a:t>                Is everything working?</a:t>
            </a:r>
            <a:br>
              <a:rPr lang="en-IN" dirty="0"/>
            </a:br>
            <a:r>
              <a:rPr lang="en-IN" dirty="0"/>
              <a:t>                         │</a:t>
            </a:r>
            <a:br>
              <a:rPr lang="en-IN" dirty="0"/>
            </a:br>
            <a:r>
              <a:rPr lang="en-IN" dirty="0"/>
              <a:t>                    No idea ❌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If the application stops responding, you have very little visibility.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547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3323-4FE4-5A38-678B-0EE716DAA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 Actuator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BA54-832E-42E1-451B-A56FA5910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Employee Payroll Application</a:t>
            </a:r>
          </a:p>
          <a:p>
            <a:pPr marL="0" indent="0">
              <a:buNone/>
            </a:pPr>
            <a:r>
              <a:rPr lang="en-IN" dirty="0"/>
              <a:t>                         │</a:t>
            </a:r>
          </a:p>
          <a:p>
            <a:pPr marL="0" indent="0">
              <a:buNone/>
            </a:pPr>
            <a:r>
              <a:rPr lang="en-IN" dirty="0"/>
              <a:t>                  Spring Boot Actuator</a:t>
            </a:r>
          </a:p>
          <a:p>
            <a:pPr marL="0" indent="0">
              <a:buNone/>
            </a:pPr>
            <a:r>
              <a:rPr lang="en-IN" dirty="0"/>
              <a:t>                         │</a:t>
            </a:r>
          </a:p>
          <a:p>
            <a:pPr marL="0" indent="0">
              <a:buNone/>
            </a:pPr>
            <a:r>
              <a:rPr lang="en-IN" dirty="0"/>
              <a:t>       ┌──────────────┬──────────────┬──────────────┐</a:t>
            </a:r>
          </a:p>
          <a:p>
            <a:pPr marL="0" indent="0">
              <a:buNone/>
            </a:pPr>
            <a:r>
              <a:rPr lang="en-IN" dirty="0"/>
              <a:t>       │                                   │                                     │</a:t>
            </a:r>
          </a:p>
          <a:p>
            <a:pPr marL="0" indent="0">
              <a:buNone/>
            </a:pPr>
            <a:r>
              <a:rPr lang="en-IN" dirty="0"/>
              <a:t>    /health                  /metrics                         /info</a:t>
            </a:r>
          </a:p>
          <a:p>
            <a:pPr marL="0" indent="0">
              <a:buNone/>
            </a:pPr>
            <a:r>
              <a:rPr lang="en-IN" dirty="0"/>
              <a:t>       │                                   │                                     │</a:t>
            </a:r>
          </a:p>
          <a:p>
            <a:pPr marL="0" indent="0">
              <a:buNone/>
            </a:pPr>
            <a:r>
              <a:rPr lang="en-IN" dirty="0"/>
              <a:t>   App Status        Performance        Build Details</a:t>
            </a:r>
          </a:p>
        </p:txBody>
      </p:sp>
    </p:spTree>
    <p:extLst>
      <p:ext uri="{BB962C8B-B14F-4D97-AF65-F5344CB8AC3E}">
        <p14:creationId xmlns:p14="http://schemas.microsoft.com/office/powerpoint/2010/main" val="4108588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F7FC-1DDA-BEF3-669F-586D669E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Actuator?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80EB-991F-DE3D-C740-0A7C5D873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IN" dirty="0"/>
              <a:t>In production, administrators need answers to questions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the application running?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Oracle connected?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much JVM memory is used?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requests are processed?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 endpoints exist?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Which beans are loaded?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Which loggers are active? </a:t>
            </a:r>
          </a:p>
          <a:p>
            <a:pPr>
              <a:buNone/>
            </a:pPr>
            <a:r>
              <a:rPr lang="en-IN" dirty="0"/>
              <a:t>Instead of writing custom APIs, Actuator provides them out of the box.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5604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8B29-22AA-31A8-4874-276ACE0E8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Actuator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46905-26E7-30BA-68CA-9C5DFFE78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            Browser / Monitoring Tool</a:t>
            </a:r>
          </a:p>
          <a:p>
            <a:pPr marL="0" indent="0">
              <a:buNone/>
            </a:pPr>
            <a:r>
              <a:rPr lang="en-IN" dirty="0"/>
              <a:t>                               │</a:t>
            </a:r>
          </a:p>
          <a:p>
            <a:pPr marL="0" indent="0">
              <a:buNone/>
            </a:pPr>
            <a:r>
              <a:rPr lang="en-IN" dirty="0"/>
              <a:t>                              ▼</a:t>
            </a:r>
          </a:p>
          <a:p>
            <a:pPr marL="0" indent="0">
              <a:buNone/>
            </a:pPr>
            <a:r>
              <a:rPr lang="en-IN" dirty="0"/>
              <a:t>                    http://localhost:8080/actuator</a:t>
            </a:r>
          </a:p>
          <a:p>
            <a:pPr marL="0" indent="0">
              <a:buNone/>
            </a:pPr>
            <a:r>
              <a:rPr lang="en-IN" dirty="0"/>
              <a:t>                              │</a:t>
            </a:r>
          </a:p>
          <a:p>
            <a:pPr marL="0" indent="0">
              <a:buNone/>
            </a:pPr>
            <a:r>
              <a:rPr lang="en-IN" dirty="0"/>
              <a:t>                Spring Boot Actuator Endpoints</a:t>
            </a:r>
          </a:p>
          <a:p>
            <a:pPr marL="0" indent="0">
              <a:buNone/>
            </a:pPr>
            <a:r>
              <a:rPr lang="en-IN" dirty="0"/>
              <a:t>                              │</a:t>
            </a:r>
          </a:p>
          <a:p>
            <a:pPr marL="0" indent="0">
              <a:buNone/>
            </a:pPr>
            <a:r>
              <a:rPr lang="en-IN" dirty="0"/>
              <a:t>      ┌───────────┬─────────────┬─────────────┐</a:t>
            </a:r>
          </a:p>
          <a:p>
            <a:pPr marL="0" indent="0">
              <a:buNone/>
            </a:pPr>
            <a:r>
              <a:rPr lang="en-IN" dirty="0"/>
              <a:t>      │                             │                                  │</a:t>
            </a:r>
          </a:p>
          <a:p>
            <a:pPr marL="0" indent="0">
              <a:buNone/>
            </a:pPr>
            <a:r>
              <a:rPr lang="en-IN" dirty="0"/>
              <a:t>   Health             Metrics                       Beans</a:t>
            </a:r>
          </a:p>
          <a:p>
            <a:pPr marL="0" indent="0">
              <a:buNone/>
            </a:pPr>
            <a:r>
              <a:rPr lang="en-IN" dirty="0"/>
              <a:t>      │                             │                                  │</a:t>
            </a:r>
          </a:p>
          <a:p>
            <a:pPr marL="0" indent="0">
              <a:buNone/>
            </a:pPr>
            <a:r>
              <a:rPr lang="en-IN" dirty="0"/>
              <a:t>     ▼                           ▼                               ▼</a:t>
            </a:r>
          </a:p>
          <a:p>
            <a:pPr marL="0" indent="0">
              <a:buNone/>
            </a:pPr>
            <a:r>
              <a:rPr lang="en-IN" dirty="0"/>
              <a:t> Employee Payroll Application</a:t>
            </a:r>
          </a:p>
        </p:txBody>
      </p:sp>
    </p:spTree>
    <p:extLst>
      <p:ext uri="{BB962C8B-B14F-4D97-AF65-F5344CB8AC3E}">
        <p14:creationId xmlns:p14="http://schemas.microsoft.com/office/powerpoint/2010/main" val="3269483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AFB3-FA4F-5EAA-72BC-815D5F54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– Add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4FF98-36EC-DE9D-76E9-7E451A84F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&lt;dependency&gt;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&gt;spring-boot-starter-actuator&lt;/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38528128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047E-910A-D6CC-DB15-A6518126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– Verify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744B0-351A-5A70-51EC-F1F5AEF07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Run the application.</a:t>
            </a:r>
          </a:p>
          <a:p>
            <a:endParaRPr lang="en-IN" dirty="0"/>
          </a:p>
          <a:p>
            <a:r>
              <a:rPr lang="en-IN" dirty="0"/>
              <a:t>The startup logs should include Actuator initialization.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0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D6EB0-B1BA-CFB4-2B28-54D0400E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 – Default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D7EDA-638F-0128-1B04-416310F4B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 default, only a small subset of endpoints is exposed.</a:t>
            </a:r>
          </a:p>
          <a:p>
            <a:pPr marL="0" indent="0">
              <a:buNone/>
            </a:pPr>
            <a:r>
              <a:rPr lang="en-IN" dirty="0"/>
              <a:t>Try opening:</a:t>
            </a:r>
          </a:p>
          <a:p>
            <a:pPr marL="457200" lvl="1" indent="0">
              <a:buNone/>
            </a:pPr>
            <a:r>
              <a:rPr lang="en-IN" dirty="0"/>
              <a:t>http://localhost:8080/actuator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518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E39C-A511-EBED-4938-06E9728BF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 – Expose More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A1C4D-1F5E-C998-6529-DBB282498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 </a:t>
            </a:r>
            <a:r>
              <a:rPr lang="en-IN" dirty="0" err="1"/>
              <a:t>application.properties</a:t>
            </a:r>
            <a:r>
              <a:rPr lang="en-IN" dirty="0"/>
              <a:t>:</a:t>
            </a:r>
          </a:p>
          <a:p>
            <a:pPr marL="0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 err="1"/>
              <a:t>management.endpoints.web.exposure.include</a:t>
            </a:r>
            <a:r>
              <a:rPr lang="en-IN" dirty="0"/>
              <a:t>=*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Note : Do not use * in production.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0803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7696-427F-4661-32EE-280AF2544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Production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385CC-2A4B-ADC2-E2BD-75B41E3A2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7991" cy="4351338"/>
          </a:xfrm>
        </p:spPr>
        <p:txBody>
          <a:bodyPr/>
          <a:lstStyle/>
          <a:p>
            <a:r>
              <a:rPr lang="en-IN" dirty="0"/>
              <a:t>Expose only what you need:</a:t>
            </a:r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 err="1"/>
              <a:t>management.endpoints.web.exposure.include</a:t>
            </a:r>
            <a:r>
              <a:rPr lang="en-IN" dirty="0"/>
              <a:t>=</a:t>
            </a:r>
            <a:r>
              <a:rPr lang="en-IN" dirty="0" err="1"/>
              <a:t>health,info,metrics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4511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776CE-718F-68B2-E7CF-900B4EF6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 – Change Base Path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E1FD3-7ECA-9253-16F0-331D5382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Default:</a:t>
            </a:r>
          </a:p>
          <a:p>
            <a:pPr marL="457200" lvl="1" indent="0">
              <a:buNone/>
            </a:pPr>
            <a:r>
              <a:rPr lang="en-IN" dirty="0"/>
              <a:t>/actuator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Custom:</a:t>
            </a:r>
          </a:p>
          <a:p>
            <a:pPr marL="457200" lvl="1" indent="0">
              <a:buNone/>
            </a:pPr>
            <a:r>
              <a:rPr lang="en-IN" dirty="0" err="1"/>
              <a:t>management.endpoints.web.base</a:t>
            </a:r>
            <a:r>
              <a:rPr lang="en-IN" dirty="0"/>
              <a:t>-path=/manage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Now endpoints become:</a:t>
            </a:r>
          </a:p>
          <a:p>
            <a:pPr marL="457200" lvl="1" indent="0">
              <a:buNone/>
            </a:pPr>
            <a:r>
              <a:rPr lang="en-IN" dirty="0"/>
              <a:t>http://localhost:8080/manage/health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609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2B05-D0D0-C178-DA01-62259BA0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Actuator Endpoints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632439-B4F9-14FE-78E6-B57332D34D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460" y="1811462"/>
          <a:ext cx="10425080" cy="4379664"/>
        </p:xfrm>
        <a:graphic>
          <a:graphicData uri="http://schemas.openxmlformats.org/drawingml/2006/table">
            <a:tbl>
              <a:tblPr/>
              <a:tblGrid>
                <a:gridCol w="5212540">
                  <a:extLst>
                    <a:ext uri="{9D8B030D-6E8A-4147-A177-3AD203B41FA5}">
                      <a16:colId xmlns:a16="http://schemas.microsoft.com/office/drawing/2014/main" val="2965196392"/>
                    </a:ext>
                  </a:extLst>
                </a:gridCol>
                <a:gridCol w="5212540">
                  <a:extLst>
                    <a:ext uri="{9D8B030D-6E8A-4147-A177-3AD203B41FA5}">
                      <a16:colId xmlns:a16="http://schemas.microsoft.com/office/drawing/2014/main" val="89132004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Endpoint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Purpose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68551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Lists available endpoints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11224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/actuator/health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Application health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07790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/actuator/info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Application information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88831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/actuator/metrics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Metrics list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99726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/actuator/beans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Loaded Spring beans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48897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/actuator/env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Environment properties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1339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/actuator/configprops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Configuration properties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6744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/actuator/mappings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URL mappings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85698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/actuator/loggers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Logger configuration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2865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/actuator/threaddump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JVM thread dump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19128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Courier New" panose="02070309020205020404" pitchFamily="49" charset="0"/>
                        </a:rPr>
                        <a:t>/actuator/heapdump</a:t>
                      </a:r>
                      <a:endParaRPr lang="en-IN" sz="1800"/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JVM heap dump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646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244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4075B-E7C8-377E-A902-A7F0DB6B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1 – /actuator/health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B4E90-4CAA-2A3E-7379-5C991F5B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721"/>
            <a:ext cx="10515600" cy="463524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/>
              <a:t>This endpoint answers:</a:t>
            </a:r>
          </a:p>
          <a:p>
            <a:pPr>
              <a:buNone/>
            </a:pPr>
            <a:r>
              <a:rPr lang="en-IN" b="1" dirty="0"/>
              <a:t>"Is the application healthy?"</a:t>
            </a:r>
            <a:endParaRPr lang="en-IN" dirty="0"/>
          </a:p>
          <a:p>
            <a:pPr>
              <a:buNone/>
            </a:pPr>
            <a:r>
              <a:rPr lang="en-IN" dirty="0"/>
              <a:t>Open: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http://localhost:8080/actuator/health</a:t>
            </a:r>
          </a:p>
          <a:p>
            <a:pPr>
              <a:buNone/>
            </a:pPr>
            <a:r>
              <a:rPr lang="en-IN" dirty="0"/>
              <a:t>Typical 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"status": "UP"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If Oracle is unavailable: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"status": "DOWN"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dirty="0"/>
              <a:t>This makes it easy for monitoring tools to detect outages.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850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8132A-6007-4FE7-1828-20C75B53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2 – /actuator/info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E1992-1403-CA23-FAA3-25D71F0ED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2489"/>
            <a:ext cx="10515600" cy="3237614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/>
              <a:t>Add to </a:t>
            </a:r>
            <a:r>
              <a:rPr lang="en-IN" dirty="0" err="1">
                <a:latin typeface="Courier New" panose="02070309020205020404" pitchFamily="49" charset="0"/>
              </a:rPr>
              <a:t>application.properties</a:t>
            </a:r>
            <a:r>
              <a:rPr lang="en-IN" dirty="0"/>
              <a:t>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management.info.env.enabled</a:t>
            </a:r>
            <a:r>
              <a:rPr lang="en-IN" dirty="0">
                <a:latin typeface="Courier New" panose="02070309020205020404" pitchFamily="49" charset="0"/>
              </a:rPr>
              <a:t>=true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info.app.name=Employee Payroll System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info.app.version</a:t>
            </a:r>
            <a:r>
              <a:rPr lang="en-IN" dirty="0">
                <a:latin typeface="Courier New" panose="02070309020205020404" pitchFamily="49" charset="0"/>
              </a:rPr>
              <a:t>=1.0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info.company</a:t>
            </a:r>
            <a:r>
              <a:rPr lang="en-IN" dirty="0">
                <a:latin typeface="Courier New" panose="02070309020205020404" pitchFamily="49" charset="0"/>
              </a:rPr>
              <a:t>=Sujata Technologies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info.environment</a:t>
            </a:r>
            <a:r>
              <a:rPr lang="en-IN" dirty="0">
                <a:latin typeface="Courier New" panose="02070309020205020404" pitchFamily="49" charset="0"/>
              </a:rPr>
              <a:t>=Development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Now call: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/actuator/info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251BE-E304-A800-0C93-CB930181B25A}"/>
              </a:ext>
            </a:extLst>
          </p:cNvPr>
          <p:cNvSpPr txBox="1"/>
          <p:nvPr/>
        </p:nvSpPr>
        <p:spPr>
          <a:xfrm>
            <a:off x="4651736" y="3535326"/>
            <a:ext cx="539070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dirty="0"/>
              <a:t>Response:</a:t>
            </a:r>
          </a:p>
          <a:p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r>
              <a:rPr lang="en-IN" dirty="0">
                <a:latin typeface="Courier New" panose="02070309020205020404" pitchFamily="49" charset="0"/>
              </a:rPr>
              <a:t>  "app": {</a:t>
            </a:r>
          </a:p>
          <a:p>
            <a:r>
              <a:rPr lang="en-IN" dirty="0">
                <a:latin typeface="Courier New" panose="02070309020205020404" pitchFamily="49" charset="0"/>
              </a:rPr>
              <a:t>    "name": "Employee Payroll System",</a:t>
            </a:r>
          </a:p>
          <a:p>
            <a:r>
              <a:rPr lang="en-IN" dirty="0">
                <a:latin typeface="Courier New" panose="02070309020205020404" pitchFamily="49" charset="0"/>
              </a:rPr>
              <a:t>    "version": "1.0"</a:t>
            </a:r>
          </a:p>
          <a:p>
            <a:r>
              <a:rPr lang="en-IN" dirty="0">
                <a:latin typeface="Courier New" panose="02070309020205020404" pitchFamily="49" charset="0"/>
              </a:rPr>
              <a:t>  },</a:t>
            </a:r>
          </a:p>
          <a:p>
            <a:r>
              <a:rPr lang="en-IN" dirty="0">
                <a:latin typeface="Courier New" panose="02070309020205020404" pitchFamily="49" charset="0"/>
              </a:rPr>
              <a:t>  "company": "Sujata Technologies",</a:t>
            </a:r>
          </a:p>
          <a:p>
            <a:r>
              <a:rPr lang="en-IN" dirty="0">
                <a:latin typeface="Courier New" panose="02070309020205020404" pitchFamily="49" charset="0"/>
              </a:rPr>
              <a:t>  "environment": "Development"</a:t>
            </a:r>
          </a:p>
          <a:p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B8959-1E0F-6569-B3E6-FB263769E3A3}"/>
              </a:ext>
            </a:extLst>
          </p:cNvPr>
          <p:cNvSpPr txBox="1"/>
          <p:nvPr/>
        </p:nvSpPr>
        <p:spPr>
          <a:xfrm>
            <a:off x="536944" y="6145619"/>
            <a:ext cx="10515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6">
                    <a:lumMod val="75000"/>
                  </a:schemeClr>
                </a:solidFill>
              </a:rPr>
              <a:t>This is useful for identifying which version of the application is deployed.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9360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8C8B-44F7-FA1A-C3FD-CA37C3F7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3 – /actuator/beans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462A1-86FA-4D3D-318B-665629883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Shows every Spring-managed bean.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 (truncated):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employeeController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employeeService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employeeRepository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entityManagerFactory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dataSource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dispatcherServlet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Helpful for debugging bean creation and dependency injection.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5486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4E912-9031-BEC0-7DF4-79CDB399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4 – /actuator/mappings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0BC5A-A00B-4DA1-99BD-E92F036B2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IN" dirty="0"/>
              <a:t>Displays all HTTP endpoints.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GET    /employees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POST   /employees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PUT    /employees/{id}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DELETE /employees/{id}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Useful for API discovery and troubleshooting.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6612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C655-09F3-DBFC-DE3B-4AADCAFD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Endpoint 5 – /actuator/env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B18F4-2681-CADA-0389-BB5D8C15D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dirty="0"/>
              <a:t>Displays environment properties.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Active profile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 version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Database URL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Server port 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Be cautious: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this endpoint can reveal sensitive configuration, so it should usually be restricted or disabled in production.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3813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D2E1-4A5A-3D9F-5B51-153E58F7A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Endpoint 6 – </a:t>
            </a:r>
            <a:r>
              <a:rPr lang="en-IN" b="1" dirty="0">
                <a:latin typeface="Courier New" panose="02070309020205020404" pitchFamily="49" charset="0"/>
              </a:rPr>
              <a:t>/actuator/loggers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63E61-63EB-387D-1A32-5A7C258F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IN" dirty="0"/>
              <a:t>Allows you to inspect logger levels and, with proper security, change them at runtime.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/actuator/loggers/</a:t>
            </a:r>
            <a:r>
              <a:rPr lang="en-IN" dirty="0" err="1">
                <a:latin typeface="Courier New" panose="02070309020205020404" pitchFamily="49" charset="0"/>
              </a:rPr>
              <a:t>com.sujata.service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configuredLevel</a:t>
            </a:r>
            <a:r>
              <a:rPr lang="en-IN" dirty="0">
                <a:latin typeface="Courier New" panose="02070309020205020404" pitchFamily="49" charset="0"/>
              </a:rPr>
              <a:t>": "DEBUG",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effectiveLevel</a:t>
            </a:r>
            <a:r>
              <a:rPr lang="en-IN" dirty="0">
                <a:latin typeface="Courier New" panose="02070309020205020404" pitchFamily="49" charset="0"/>
              </a:rPr>
              <a:t>": "DEBUG"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>
                <a:solidFill>
                  <a:srgbClr val="FF0000"/>
                </a:solidFill>
              </a:rPr>
              <a:t>This is useful for temporarily increasing logging in production without restarting the application.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0987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7426E2-7E2D-8E4B-5CCB-05631CF26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Health Checks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5A12945-34B5-2DDF-D380-684B89C406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2561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F865-7DDB-FC9D-3D7B-8A2BD22C2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Health Check?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52688-D5D1-A073-CAC3-7076F5F0F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A health check is a way for an application to answer the question:</a:t>
            </a:r>
          </a:p>
          <a:p>
            <a:pPr>
              <a:buNone/>
            </a:pPr>
            <a:r>
              <a:rPr lang="en-IN" b="1" dirty="0"/>
              <a:t>"Are you healthy enough to serve requests?“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Simply being </a:t>
            </a:r>
            <a:r>
              <a:rPr lang="en-IN" b="1" dirty="0"/>
              <a:t>running</a:t>
            </a:r>
            <a:r>
              <a:rPr lang="en-IN" dirty="0"/>
              <a:t> doesn't necessarily mean the application is </a:t>
            </a:r>
            <a:r>
              <a:rPr lang="en-IN" b="1" dirty="0"/>
              <a:t>healthy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 starts successfully ✅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Oracle Database is down ❌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Payroll service cannot calculate salaries ❌ </a:t>
            </a:r>
          </a:p>
          <a:p>
            <a:pPr>
              <a:buNone/>
            </a:pPr>
            <a:r>
              <a:rPr lang="en-IN" dirty="0"/>
              <a:t>The application is running, but it isn't healthy.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64462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94ECC-44BA-A8F6-056F-5D9A5FA23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Health Checks 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3E9BB-F217-C8C8-589F-0C389B60B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973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/>
              <a:t>Imagine your </a:t>
            </a:r>
            <a:r>
              <a:rPr lang="en-IN" b="1" dirty="0"/>
              <a:t>Employee Payroll application </a:t>
            </a:r>
            <a:r>
              <a:rPr lang="en-IN" dirty="0"/>
              <a:t>is deployed in production.</a:t>
            </a:r>
          </a:p>
          <a:p>
            <a:pPr>
              <a:buNone/>
            </a:pPr>
            <a:r>
              <a:rPr lang="en-IN" dirty="0"/>
              <a:t>Employees try to log in.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Employee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Spring Boot Application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Oracle Database</a:t>
            </a:r>
          </a:p>
          <a:p>
            <a:pPr>
              <a:buNone/>
            </a:pPr>
            <a:r>
              <a:rPr lang="en-IN" dirty="0"/>
              <a:t>If Oracle is unavailable: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Login fails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Employee Search fails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Payroll Generation fails 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3"/>
                </a:solidFill>
              </a:rPr>
              <a:t>Without a health check, monitoring tools only know that the application process exists—not that it's actually usable.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69774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4530D-4AD2-1537-4939-B845505E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Default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7C13C-33C6-7E74-60DE-A29FA2F40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After adding Actuator, open: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http://localhost:8080/actuator/health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Typical 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"status": "UP"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This only gives the overall status.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498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191D-4AA4-6EA4-C1A0-FCD8E9936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441"/>
            <a:ext cx="10515600" cy="1325563"/>
          </a:xfrm>
        </p:spPr>
        <p:txBody>
          <a:bodyPr/>
          <a:lstStyle/>
          <a:p>
            <a:r>
              <a:rPr lang="en-IN" dirty="0"/>
              <a:t>Enable Detailed Health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7EB8-2C55-D390-617E-707844DEB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86"/>
            <a:ext cx="4557823" cy="511957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In </a:t>
            </a:r>
            <a:r>
              <a:rPr lang="en-IN" b="1" dirty="0" err="1"/>
              <a:t>application.properties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management.endpoint.health.show</a:t>
            </a:r>
            <a:r>
              <a:rPr lang="en-IN" dirty="0">
                <a:latin typeface="Courier New" panose="02070309020205020404" pitchFamily="49" charset="0"/>
              </a:rPr>
              <a:t>-details=always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Now the response becomes much richer.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6A1A6-7886-DA33-F2E1-7E41E26FADA3}"/>
              </a:ext>
            </a:extLst>
          </p:cNvPr>
          <p:cNvSpPr txBox="1"/>
          <p:nvPr/>
        </p:nvSpPr>
        <p:spPr>
          <a:xfrm>
            <a:off x="7501270" y="2870791"/>
            <a:ext cx="4327451" cy="3662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64FE2-AE36-A3A6-55D5-C47E169C4E48}"/>
              </a:ext>
            </a:extLst>
          </p:cNvPr>
          <p:cNvSpPr txBox="1"/>
          <p:nvPr/>
        </p:nvSpPr>
        <p:spPr>
          <a:xfrm>
            <a:off x="5863856" y="1562986"/>
            <a:ext cx="608182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Example:</a:t>
            </a:r>
          </a:p>
          <a:p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r>
              <a:rPr lang="en-IN" dirty="0">
                <a:latin typeface="Courier New" panose="02070309020205020404" pitchFamily="49" charset="0"/>
              </a:rPr>
              <a:t>  "components":{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db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r>
              <a:rPr lang="en-IN" dirty="0">
                <a:latin typeface="Courier New" panose="02070309020205020404" pitchFamily="49" charset="0"/>
              </a:rPr>
              <a:t>      },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diskSpace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r>
              <a:rPr lang="en-IN" dirty="0">
                <a:latin typeface="Courier New" panose="02070309020205020404" pitchFamily="49" charset="0"/>
              </a:rPr>
              <a:t>      },</a:t>
            </a:r>
          </a:p>
          <a:p>
            <a:r>
              <a:rPr lang="en-IN" dirty="0">
                <a:latin typeface="Courier New" panose="02070309020205020404" pitchFamily="49" charset="0"/>
              </a:rPr>
              <a:t>      "ping":{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    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8199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6AEB1-E4A5-C138-1CE0-7E70260A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Built-in Health Indicators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29829C-8C8B-07B3-E798-50A5ED9D0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108399"/>
              </p:ext>
            </p:extLst>
          </p:nvPr>
        </p:nvGraphicFramePr>
        <p:xfrm>
          <a:off x="838200" y="196728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35970462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99614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Health Indicator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622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92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Disk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Free disk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737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Simple application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681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Mail server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316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Redis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937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Mongo 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2412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RabbitMQ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RabbitMQ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089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Elasticsearch availability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83444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5E1217-3EDC-B68B-FB4D-1FA6148D6CB8}"/>
              </a:ext>
            </a:extLst>
          </p:cNvPr>
          <p:cNvSpPr txBox="1"/>
          <p:nvPr/>
        </p:nvSpPr>
        <p:spPr>
          <a:xfrm>
            <a:off x="681808" y="5710544"/>
            <a:ext cx="10397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chemeClr val="accent3"/>
                </a:solidFill>
              </a:rPr>
              <a:t>Spring Boot automatically checks many components.</a:t>
            </a:r>
          </a:p>
          <a:p>
            <a:pPr>
              <a:buNone/>
            </a:pPr>
            <a:r>
              <a:rPr lang="en-IN" dirty="0">
                <a:solidFill>
                  <a:schemeClr val="accent3"/>
                </a:solidFill>
              </a:rPr>
              <a:t>Since our project uses </a:t>
            </a:r>
            <a:r>
              <a:rPr lang="en-IN" b="1" dirty="0">
                <a:solidFill>
                  <a:schemeClr val="accent3"/>
                </a:solidFill>
              </a:rPr>
              <a:t>Oracle</a:t>
            </a:r>
            <a:r>
              <a:rPr lang="en-IN" dirty="0">
                <a:solidFill>
                  <a:schemeClr val="accent3"/>
                </a:solidFill>
              </a:rPr>
              <a:t>, Spring Boot automatically performs a database connectivity check.</a:t>
            </a:r>
          </a:p>
        </p:txBody>
      </p:sp>
    </p:spTree>
    <p:extLst>
      <p:ext uri="{BB962C8B-B14F-4D97-AF65-F5344CB8AC3E}">
        <p14:creationId xmlns:p14="http://schemas.microsoft.com/office/powerpoint/2010/main" val="20106527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37F4-FCDF-92ED-6011-6F055CF0A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03E2-9F47-074F-B1D7-004024B77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567"/>
            <a:ext cx="10515600" cy="45873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/>
              <a:t>When Oracle is connected: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Oracle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Connection Successful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▼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Status = 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5A62E-3E6D-8161-8CA1-6405C76402E4}"/>
              </a:ext>
            </a:extLst>
          </p:cNvPr>
          <p:cNvSpPr txBox="1"/>
          <p:nvPr/>
        </p:nvSpPr>
        <p:spPr>
          <a:xfrm>
            <a:off x="6618767" y="1690688"/>
            <a:ext cx="4800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/>
              <a:t>Response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r>
              <a:rPr lang="en-IN" dirty="0">
                <a:latin typeface="Courier New" panose="02070309020205020404" pitchFamily="49" charset="0"/>
              </a:rPr>
              <a:t>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"components":{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    "</a:t>
            </a:r>
            <a:r>
              <a:rPr lang="en-IN" dirty="0" err="1">
                <a:latin typeface="Courier New" panose="02070309020205020404" pitchFamily="49" charset="0"/>
              </a:rPr>
              <a:t>db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r>
              <a:rPr lang="en-IN" dirty="0">
                <a:latin typeface="Courier New" panose="02070309020205020404" pitchFamily="49" charset="0"/>
              </a:rPr>
              <a:t>      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    }</a:t>
            </a:r>
          </a:p>
          <a:p>
            <a:endParaRPr lang="en-IN" dirty="0">
              <a:latin typeface="Courier New" panose="02070309020205020404" pitchFamily="49" charset="0"/>
            </a:endParaRPr>
          </a:p>
          <a:p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46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9872-43D5-5F4E-FCD9-3F1EBBE8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017A-3801-9858-6374-E2069C229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67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If Oracle stops:</a:t>
            </a:r>
          </a:p>
          <a:p>
            <a:pPr marL="0" indent="0">
              <a:buNone/>
            </a:pPr>
            <a:r>
              <a:rPr lang="en-IN" dirty="0"/>
              <a:t>   Oracle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Connection Failed</a:t>
            </a:r>
          </a:p>
          <a:p>
            <a:pPr marL="0" indent="0">
              <a:buNone/>
            </a:pPr>
            <a:r>
              <a:rPr lang="en-IN" dirty="0"/>
              <a:t>      │</a:t>
            </a:r>
          </a:p>
          <a:p>
            <a:pPr marL="0" indent="0">
              <a:buNone/>
            </a:pPr>
            <a:r>
              <a:rPr lang="en-IN" dirty="0"/>
              <a:t>     ▼</a:t>
            </a:r>
          </a:p>
          <a:p>
            <a:pPr marL="0" indent="0">
              <a:buNone/>
            </a:pPr>
            <a:r>
              <a:rPr lang="en-IN" dirty="0"/>
              <a:t>Status = 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DDD4F-01A4-C681-8D26-916B552D56E0}"/>
              </a:ext>
            </a:extLst>
          </p:cNvPr>
          <p:cNvSpPr txBox="1"/>
          <p:nvPr/>
        </p:nvSpPr>
        <p:spPr>
          <a:xfrm>
            <a:off x="5730949" y="2083981"/>
            <a:ext cx="562285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Response :</a:t>
            </a:r>
          </a:p>
          <a:p>
            <a:endParaRPr lang="en-IN" b="1" dirty="0"/>
          </a:p>
          <a:p>
            <a:r>
              <a:rPr lang="en-IN" dirty="0"/>
              <a:t>{</a:t>
            </a:r>
          </a:p>
          <a:p>
            <a:r>
              <a:rPr lang="en-IN" dirty="0"/>
              <a:t>    "</a:t>
            </a:r>
            <a:r>
              <a:rPr lang="en-IN" dirty="0" err="1"/>
              <a:t>status":"DOWN</a:t>
            </a:r>
            <a:r>
              <a:rPr lang="en-IN" dirty="0"/>
              <a:t>",</a:t>
            </a:r>
          </a:p>
          <a:p>
            <a:endParaRPr lang="en-IN" dirty="0"/>
          </a:p>
          <a:p>
            <a:r>
              <a:rPr lang="en-IN" dirty="0"/>
              <a:t>    "components":{</a:t>
            </a:r>
          </a:p>
          <a:p>
            <a:endParaRPr lang="en-IN" dirty="0"/>
          </a:p>
          <a:p>
            <a:r>
              <a:rPr lang="en-IN" dirty="0"/>
              <a:t>        "</a:t>
            </a:r>
            <a:r>
              <a:rPr lang="en-IN" dirty="0" err="1"/>
              <a:t>db</a:t>
            </a:r>
            <a:r>
              <a:rPr lang="en-IN" dirty="0"/>
              <a:t>":{</a:t>
            </a:r>
          </a:p>
          <a:p>
            <a:r>
              <a:rPr lang="en-IN" dirty="0"/>
              <a:t>            "</a:t>
            </a:r>
            <a:r>
              <a:rPr lang="en-IN" dirty="0" err="1"/>
              <a:t>status":"DOWN</a:t>
            </a:r>
            <a:r>
              <a:rPr lang="en-IN" dirty="0"/>
              <a:t>"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EE189-2966-EFF4-A6A3-79FD66B63A33}"/>
              </a:ext>
            </a:extLst>
          </p:cNvPr>
          <p:cNvSpPr txBox="1"/>
          <p:nvPr/>
        </p:nvSpPr>
        <p:spPr>
          <a:xfrm>
            <a:off x="536944" y="6176963"/>
            <a:ext cx="114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Your monitoring system immediately knows that the application cannot access the database.</a:t>
            </a:r>
          </a:p>
        </p:txBody>
      </p:sp>
    </p:spTree>
    <p:extLst>
      <p:ext uri="{BB962C8B-B14F-4D97-AF65-F5344CB8AC3E}">
        <p14:creationId xmlns:p14="http://schemas.microsoft.com/office/powerpoint/2010/main" val="2882876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B9FC-44C1-4511-A166-2E81B34B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Disk Space Health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9FE44-269C-D96F-3CD5-73D3019A1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353"/>
            <a:ext cx="10515600" cy="4940522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IN" sz="3000" b="1" dirty="0"/>
              <a:t>Spring Boot also checks available disk space.</a:t>
            </a:r>
          </a:p>
          <a:p>
            <a:pPr>
              <a:buNone/>
            </a:pPr>
            <a:r>
              <a:rPr lang="en-IN" b="1" dirty="0"/>
              <a:t>Example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</a:t>
            </a:r>
            <a:r>
              <a:rPr lang="en-IN" dirty="0" err="1">
                <a:latin typeface="Courier New" panose="02070309020205020404" pitchFamily="49" charset="0"/>
              </a:rPr>
              <a:t>diskSpace</a:t>
            </a:r>
            <a:r>
              <a:rPr lang="en-IN" dirty="0">
                <a:latin typeface="Courier New" panose="02070309020205020404" pitchFamily="49" charset="0"/>
              </a:rPr>
              <a:t>":{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status":"UP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"details":{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"total":500107862016,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"free":235678621696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}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IN" sz="3000" b="1" dirty="0"/>
              <a:t>This helps detect servers running out of storage.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58893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FE07-3339-358B-5CB0-29A24623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 Health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BBD43-372F-F632-8882-5BD1E227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Enterprise applications often need business-specific checks.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payroll be generated?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employee records be accessed?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salary slips be generated?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the HR API reachable?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the email server available?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These are not built in—we implement </a:t>
            </a:r>
            <a:r>
              <a:rPr lang="en-IN"/>
              <a:t>them ourself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6315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9B33-67D1-8083-C1A4-6E361F05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Custom Health Indicator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A941-F3D1-2F3E-311F-2E483C8FC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130"/>
            <a:ext cx="10515600" cy="4762833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/>
              <a:t>@Component</a:t>
            </a:r>
          </a:p>
          <a:p>
            <a:pPr>
              <a:buNone/>
            </a:pPr>
            <a:r>
              <a:rPr lang="en-US" dirty="0"/>
              <a:t>public class </a:t>
            </a:r>
            <a:r>
              <a:rPr lang="en-US" dirty="0" err="1"/>
              <a:t>PayrollHealthIndicator</a:t>
            </a:r>
            <a:r>
              <a:rPr lang="en-US" dirty="0"/>
              <a:t> implements </a:t>
            </a:r>
            <a:r>
              <a:rPr lang="en-US" dirty="0" err="1"/>
              <a:t>HealthIndicator</a:t>
            </a:r>
            <a:r>
              <a:rPr lang="en-US" dirty="0"/>
              <a:t> {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private final </a:t>
            </a:r>
            <a:r>
              <a:rPr lang="en-US" dirty="0" err="1"/>
              <a:t>EmployeeRepository</a:t>
            </a:r>
            <a:r>
              <a:rPr lang="en-US" dirty="0"/>
              <a:t> </a:t>
            </a:r>
            <a:r>
              <a:rPr lang="en-US" dirty="0" err="1"/>
              <a:t>employeeRepository</a:t>
            </a:r>
            <a:r>
              <a:rPr lang="en-US" dirty="0"/>
              <a:t>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public </a:t>
            </a:r>
            <a:r>
              <a:rPr lang="en-US" dirty="0" err="1"/>
              <a:t>PayrollHealthIndicator</a:t>
            </a:r>
            <a:r>
              <a:rPr lang="en-US" dirty="0"/>
              <a:t>(</a:t>
            </a:r>
            <a:r>
              <a:rPr lang="en-US" dirty="0" err="1"/>
              <a:t>EmployeeRepository</a:t>
            </a:r>
            <a:r>
              <a:rPr lang="en-US" dirty="0"/>
              <a:t> </a:t>
            </a:r>
            <a:r>
              <a:rPr lang="en-US" dirty="0" err="1"/>
              <a:t>employeeRepository</a:t>
            </a:r>
            <a:r>
              <a:rPr lang="en-US" dirty="0"/>
              <a:t>) {</a:t>
            </a:r>
          </a:p>
          <a:p>
            <a:pPr>
              <a:buNone/>
            </a:pPr>
            <a:r>
              <a:rPr lang="en-US" dirty="0"/>
              <a:t>        </a:t>
            </a:r>
            <a:r>
              <a:rPr lang="en-US" dirty="0" err="1"/>
              <a:t>this.employeeRepository</a:t>
            </a:r>
            <a:r>
              <a:rPr lang="en-US" dirty="0"/>
              <a:t> = </a:t>
            </a:r>
            <a:r>
              <a:rPr lang="en-US" dirty="0" err="1"/>
              <a:t>employeeRepository</a:t>
            </a:r>
            <a:r>
              <a:rPr lang="en-US" dirty="0"/>
              <a:t>;</a:t>
            </a:r>
          </a:p>
          <a:p>
            <a:pPr>
              <a:buNone/>
            </a:pPr>
            <a:r>
              <a:rPr lang="en-US" dirty="0"/>
              <a:t>    }</a:t>
            </a:r>
          </a:p>
          <a:p>
            <a:pPr>
              <a:buNone/>
            </a:pPr>
            <a:r>
              <a:rPr lang="en-US" dirty="0"/>
              <a:t>    @Override</a:t>
            </a:r>
          </a:p>
          <a:p>
            <a:pPr>
              <a:buNone/>
            </a:pPr>
            <a:r>
              <a:rPr lang="en-US" dirty="0"/>
              <a:t>    public Health health() {</a:t>
            </a:r>
          </a:p>
          <a:p>
            <a:pPr>
              <a:buNone/>
            </a:pPr>
            <a:r>
              <a:rPr lang="en-US" dirty="0"/>
              <a:t>        try {</a:t>
            </a:r>
          </a:p>
          <a:p>
            <a:pPr>
              <a:buNone/>
            </a:pPr>
            <a:r>
              <a:rPr lang="en-US" dirty="0"/>
              <a:t>            long count = </a:t>
            </a:r>
            <a:r>
              <a:rPr lang="en-US" dirty="0" err="1"/>
              <a:t>employeeRepository.count</a:t>
            </a:r>
            <a:r>
              <a:rPr lang="en-US" dirty="0"/>
              <a:t>();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           return </a:t>
            </a:r>
            <a:r>
              <a:rPr lang="en-US" dirty="0" err="1"/>
              <a:t>Health.up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/>
              <a:t>                    .</a:t>
            </a:r>
            <a:r>
              <a:rPr lang="en-US" dirty="0" err="1"/>
              <a:t>withDetail</a:t>
            </a:r>
            <a:r>
              <a:rPr lang="en-US" dirty="0"/>
              <a:t>("Employee Count", count)</a:t>
            </a:r>
          </a:p>
          <a:p>
            <a:pPr>
              <a:buNone/>
            </a:pPr>
            <a:r>
              <a:rPr lang="en-US" dirty="0"/>
              <a:t>                    .build();</a:t>
            </a:r>
          </a:p>
          <a:p>
            <a:pPr>
              <a:buNone/>
            </a:pPr>
            <a:r>
              <a:rPr lang="en-US" dirty="0"/>
              <a:t>        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E7A1F-35B2-59A8-787D-86F416FEF1A3}"/>
              </a:ext>
            </a:extLst>
          </p:cNvPr>
          <p:cNvSpPr txBox="1"/>
          <p:nvPr/>
        </p:nvSpPr>
        <p:spPr>
          <a:xfrm>
            <a:off x="622005" y="6076507"/>
            <a:ext cx="111482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/>
                </a:solidFill>
              </a:rPr>
              <a:t>Because the class is annotated with @Component, Spring Boot automatically detects it and includes it in the /actuator/health response.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39891-45F7-EA32-4EF4-1166C41B54CF}"/>
              </a:ext>
            </a:extLst>
          </p:cNvPr>
          <p:cNvSpPr txBox="1"/>
          <p:nvPr/>
        </p:nvSpPr>
        <p:spPr>
          <a:xfrm>
            <a:off x="6491174" y="3386469"/>
            <a:ext cx="501856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500" dirty="0"/>
              <a:t>catch (Exception ex) {</a:t>
            </a:r>
          </a:p>
          <a:p>
            <a:pPr>
              <a:buNone/>
            </a:pPr>
            <a:endParaRPr lang="en-US" sz="1500" dirty="0"/>
          </a:p>
          <a:p>
            <a:pPr>
              <a:buNone/>
            </a:pPr>
            <a:r>
              <a:rPr lang="en-US" sz="1500" dirty="0"/>
              <a:t>            return </a:t>
            </a:r>
            <a:r>
              <a:rPr lang="en-US" sz="1500" dirty="0" err="1"/>
              <a:t>Health.down</a:t>
            </a:r>
            <a:r>
              <a:rPr lang="en-US" sz="1500" dirty="0"/>
              <a:t>(ex)</a:t>
            </a:r>
          </a:p>
          <a:p>
            <a:pPr>
              <a:buNone/>
            </a:pPr>
            <a:r>
              <a:rPr lang="en-US" sz="1500" dirty="0"/>
              <a:t>                    .</a:t>
            </a:r>
            <a:r>
              <a:rPr lang="en-US" sz="1500" dirty="0" err="1"/>
              <a:t>withDetail</a:t>
            </a:r>
            <a:r>
              <a:rPr lang="en-US" sz="1500" dirty="0"/>
              <a:t>("Database", "Unable to fetch employees")</a:t>
            </a:r>
          </a:p>
          <a:p>
            <a:pPr>
              <a:buNone/>
            </a:pPr>
            <a:r>
              <a:rPr lang="en-US" sz="1500" dirty="0"/>
              <a:t>                    .build();</a:t>
            </a:r>
          </a:p>
          <a:p>
            <a:pPr>
              <a:buNone/>
            </a:pPr>
            <a:r>
              <a:rPr lang="en-US" sz="1500" dirty="0"/>
              <a:t>        }</a:t>
            </a:r>
          </a:p>
          <a:p>
            <a:pPr>
              <a:buNone/>
            </a:pPr>
            <a:r>
              <a:rPr lang="en-US" sz="1500" dirty="0"/>
              <a:t>    }</a:t>
            </a:r>
          </a:p>
          <a:p>
            <a:pPr>
              <a:buNone/>
            </a:pPr>
            <a:r>
              <a:rPr lang="en-US" sz="1500" dirty="0"/>
              <a:t>}</a:t>
            </a:r>
            <a:endParaRPr lang="en-IN" sz="1500" dirty="0"/>
          </a:p>
          <a:p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DA50AC-42BB-76E9-FE31-474AE04587EE}"/>
              </a:ext>
            </a:extLst>
          </p:cNvPr>
          <p:cNvCxnSpPr/>
          <p:nvPr/>
        </p:nvCxnSpPr>
        <p:spPr>
          <a:xfrm>
            <a:off x="5438553" y="3136605"/>
            <a:ext cx="0" cy="25252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13963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6354-C0F5-BE3B-5F8F-606A5518B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079CB-0412-3CB6-D65E-FE51F105D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233"/>
            <a:ext cx="10515600" cy="4794730"/>
          </a:xfrm>
        </p:spPr>
        <p:txBody>
          <a:bodyPr>
            <a:normAutofit fontScale="47500" lnSpcReduction="20000"/>
          </a:bodyPr>
          <a:lstStyle/>
          <a:p>
            <a:pPr rtl="0">
              <a:buNone/>
            </a:pPr>
            <a:r>
              <a:rPr lang="en-IN" sz="4400" b="1" dirty="0">
                <a:latin typeface="Courier New" panose="02070309020205020404" pitchFamily="49" charset="0"/>
              </a:rPr>
              <a:t>/actuator/health</a:t>
            </a:r>
          </a:p>
          <a:p>
            <a:pPr>
              <a:buNone/>
            </a:pPr>
            <a:endParaRPr lang="en-IN" sz="3200" dirty="0"/>
          </a:p>
          <a:p>
            <a:pPr>
              <a:buNone/>
            </a:pPr>
            <a:r>
              <a:rPr lang="en-IN" sz="3200" dirty="0"/>
              <a:t>Response :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"</a:t>
            </a:r>
            <a:r>
              <a:rPr lang="en-IN" sz="3200" dirty="0" err="1">
                <a:latin typeface="Courier New" panose="02070309020205020404" pitchFamily="49" charset="0"/>
              </a:rPr>
              <a:t>status":"UP</a:t>
            </a:r>
            <a:r>
              <a:rPr lang="en-IN" sz="3200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endParaRPr lang="en-IN" sz="32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"components":{</a:t>
            </a:r>
          </a:p>
          <a:p>
            <a:pPr>
              <a:buNone/>
            </a:pPr>
            <a:r>
              <a:rPr lang="en-IN" sz="3200" dirty="0">
                <a:latin typeface="Courier New" panose="02070309020205020404" pitchFamily="49" charset="0"/>
              </a:rPr>
              <a:t>      “</a:t>
            </a:r>
            <a:r>
              <a:rPr lang="en-US" sz="3200" dirty="0" err="1"/>
              <a:t>PayrollHealthIndicator</a:t>
            </a:r>
            <a:r>
              <a:rPr lang="en-US" sz="3200" dirty="0"/>
              <a:t> </a:t>
            </a:r>
            <a:r>
              <a:rPr lang="en-IN" sz="3200" dirty="0">
                <a:latin typeface="Courier New" panose="02070309020205020404" pitchFamily="49" charset="0"/>
              </a:rPr>
              <a:t>":{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"</a:t>
            </a:r>
            <a:r>
              <a:rPr lang="en-IN" sz="3200" dirty="0" err="1">
                <a:latin typeface="Courier New" panose="02070309020205020404" pitchFamily="49" charset="0"/>
              </a:rPr>
              <a:t>status":"UP</a:t>
            </a:r>
            <a:r>
              <a:rPr lang="en-IN" sz="3200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"details":{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     "Payroll </a:t>
            </a:r>
            <a:r>
              <a:rPr lang="en-IN" sz="3200" dirty="0" err="1">
                <a:latin typeface="Courier New" panose="02070309020205020404" pitchFamily="49" charset="0"/>
              </a:rPr>
              <a:t>Service":"Available</a:t>
            </a:r>
            <a:r>
              <a:rPr lang="en-IN" sz="3200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     }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    }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  }</a:t>
            </a:r>
          </a:p>
          <a:p>
            <a:pPr rtl="0">
              <a:buNone/>
            </a:pPr>
            <a:r>
              <a:rPr lang="en-IN" sz="3200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93768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39A4-7330-4711-EE67-FF6F5A4D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Health Check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A7AE-AC1A-60D8-A8BB-F89716D72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Keep health checks fast (typically under a few hundred milliseconds).</a:t>
            </a:r>
          </a:p>
          <a:p>
            <a:r>
              <a:rPr lang="en-IN" dirty="0"/>
              <a:t>Check only essential dependencies.</a:t>
            </a:r>
          </a:p>
          <a:p>
            <a:r>
              <a:rPr lang="en-IN" dirty="0"/>
              <a:t>Avoid expensive database queries.</a:t>
            </a:r>
          </a:p>
          <a:p>
            <a:r>
              <a:rPr lang="en-IN" dirty="0"/>
              <a:t>Don't perform updates or inserts.</a:t>
            </a:r>
          </a:p>
          <a:p>
            <a:r>
              <a:rPr lang="en-IN" dirty="0"/>
              <a:t>Never expose sensitive information in the health response.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862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1FFF30-7062-0ADE-D21E-532903F09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IN" dirty="0"/>
              <a:t>Metrics (</a:t>
            </a:r>
            <a:r>
              <a:rPr lang="en-IN" dirty="0" err="1"/>
              <a:t>Micrometer</a:t>
            </a:r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955952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90F0-D0BB-826C-5A92-2ABE2B31C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Metrics?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684ACBB-EA7B-D8F4-9E0A-E3EA9101F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853769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065292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84448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Logging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Metrics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77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 101 created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Employees Created = 1500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512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 generated for Employee 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Payrolls Generated = 850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93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connection failed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Failures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365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successful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Login Success Rate = 98%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3672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A13666-AD18-1958-871D-18DCC2B56E89}"/>
              </a:ext>
            </a:extLst>
          </p:cNvPr>
          <p:cNvSpPr txBox="1"/>
          <p:nvPr/>
        </p:nvSpPr>
        <p:spPr>
          <a:xfrm>
            <a:off x="728330" y="1414425"/>
            <a:ext cx="113077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Metrics</a:t>
            </a:r>
            <a:r>
              <a:rPr lang="en-IN" dirty="0"/>
              <a:t> are numerical measurements that describe the </a:t>
            </a:r>
            <a:r>
              <a:rPr lang="en-IN" dirty="0" err="1"/>
              <a:t>behavior</a:t>
            </a:r>
            <a:r>
              <a:rPr lang="en-IN" dirty="0"/>
              <a:t> and performance of your application over time.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Unlike logs, which record individual events, metrics summarize what's happening.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For example:</a:t>
            </a:r>
          </a:p>
        </p:txBody>
      </p:sp>
    </p:spTree>
    <p:extLst>
      <p:ext uri="{BB962C8B-B14F-4D97-AF65-F5344CB8AC3E}">
        <p14:creationId xmlns:p14="http://schemas.microsoft.com/office/powerpoint/2010/main" val="32971510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CD8B-BA28-1062-A9EB-2E5BB1F6C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are Metrics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01F32-A8E4-5364-F293-F200D1E90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dirty="0"/>
              <a:t>Imagine your Employee Payroll application serves </a:t>
            </a:r>
            <a:r>
              <a:rPr lang="en-IN" b="1" dirty="0"/>
              <a:t>5,000 employees</a:t>
            </a:r>
            <a:r>
              <a:rPr lang="en-IN" dirty="0"/>
              <a:t>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Management wants to know: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payrolls were generated today?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employees logged in?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How many requests per second?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What's the average response time?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memory usage increasing?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Is CPU utilization too high?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Metrics provide these answers without reading thousands of log entries.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7241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EA63E-DCDB-9D02-5C0B-5823F25F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4F4A2-F0CA-C01E-5536-269F8544D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55000" lnSpcReduction="20000"/>
          </a:bodyPr>
          <a:lstStyle/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Employee Payroll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Spring Boot Actuator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</a:t>
            </a:r>
            <a:r>
              <a:rPr lang="en-IN" dirty="0" err="1">
                <a:latin typeface="Courier New" panose="02070309020205020404" pitchFamily="49" charset="0"/>
              </a:rPr>
              <a:t>Micrometer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┌──────────────┬───────────────┐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│              │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JVM Metrics     Custom Metrics    HTTP Metrics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│              │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└──────────────┴───────────────┘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Prometheus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    │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            Grafana</a:t>
            </a:r>
          </a:p>
          <a:p>
            <a:pPr>
              <a:buNone/>
            </a:pPr>
            <a:r>
              <a:rPr lang="en-IN" b="1" dirty="0" err="1">
                <a:solidFill>
                  <a:schemeClr val="accent3"/>
                </a:solidFill>
              </a:rPr>
              <a:t>Micrometer</a:t>
            </a:r>
            <a:r>
              <a:rPr lang="en-IN" b="1" dirty="0">
                <a:solidFill>
                  <a:schemeClr val="accent3"/>
                </a:solidFill>
              </a:rPr>
              <a:t> is the metrics library used by Spring Boot.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9809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9D65-8B79-6C11-10E4-C7C491CEC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Metrics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8C37E5D-383A-6C21-59D2-706A151C53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551859"/>
              </p:ext>
            </p:extLst>
          </p:nvPr>
        </p:nvGraphicFramePr>
        <p:xfrm>
          <a:off x="838200" y="2212896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1769087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74347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05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Counts occurrences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148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 execution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86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Gauge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 current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634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Distribution Summary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Measures distribution of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320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Long Task Timer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Tracks long-running operations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1123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DF844CA-FC2B-298F-95CB-75ECE009FDF3}"/>
              </a:ext>
            </a:extLst>
          </p:cNvPr>
          <p:cNvSpPr txBox="1"/>
          <p:nvPr/>
        </p:nvSpPr>
        <p:spPr>
          <a:xfrm>
            <a:off x="814715" y="1686661"/>
            <a:ext cx="6095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 err="1"/>
              <a:t>Micrometer</a:t>
            </a:r>
            <a:r>
              <a:rPr lang="en-IN" dirty="0"/>
              <a:t> supports several metric types.</a:t>
            </a:r>
          </a:p>
        </p:txBody>
      </p:sp>
    </p:spTree>
    <p:extLst>
      <p:ext uri="{BB962C8B-B14F-4D97-AF65-F5344CB8AC3E}">
        <p14:creationId xmlns:p14="http://schemas.microsoft.com/office/powerpoint/2010/main" val="14396518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0246-3AF5-6854-0F1E-19448E1B8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Built-in Metrics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5A47B3-F548-6121-A544-A78B76E80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916725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04038294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27544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647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jvm.memory.used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JVM memory currently in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50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jvm.memory.max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Maximum JVM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4227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jvm.threads.live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Live thread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546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process.cpu.usage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CPU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857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system.cpu.usage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CPU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http.server.requests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 request statistics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97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jdbc.connections.active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Active database 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74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disk.free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Available disk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9464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BF77D2-11CA-342B-9658-2FCD6216C1CD}"/>
              </a:ext>
            </a:extLst>
          </p:cNvPr>
          <p:cNvSpPr txBox="1"/>
          <p:nvPr/>
        </p:nvSpPr>
        <p:spPr>
          <a:xfrm>
            <a:off x="889140" y="1441562"/>
            <a:ext cx="94776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After adding Actuator, Spring Boot automatically provides many useful metrics.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Examples:</a:t>
            </a:r>
          </a:p>
        </p:txBody>
      </p:sp>
    </p:spTree>
    <p:extLst>
      <p:ext uri="{BB962C8B-B14F-4D97-AF65-F5344CB8AC3E}">
        <p14:creationId xmlns:p14="http://schemas.microsoft.com/office/powerpoint/2010/main" val="11709577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1D139-1099-0DC4-24BB-040F284D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 –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B369-EAB7-1263-BED6-56DFC2B18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dirty="0"/>
              <a:t>If you've already added Actuator: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&lt;dependency&gt;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&lt;</a:t>
            </a:r>
            <a:r>
              <a:rPr lang="en-IN" dirty="0" err="1">
                <a:latin typeface="Courier New" panose="02070309020205020404" pitchFamily="49" charset="0"/>
              </a:rPr>
              <a:t>groupId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  <a:r>
              <a:rPr lang="en-IN" dirty="0" err="1">
                <a:latin typeface="Courier New" panose="02070309020205020404" pitchFamily="49" charset="0"/>
              </a:rPr>
              <a:t>org.springframework.boot</a:t>
            </a:r>
            <a:r>
              <a:rPr lang="en-IN" dirty="0">
                <a:latin typeface="Courier New" panose="02070309020205020404" pitchFamily="49" charset="0"/>
              </a:rPr>
              <a:t>&lt;/</a:t>
            </a:r>
            <a:r>
              <a:rPr lang="en-IN" dirty="0" err="1">
                <a:latin typeface="Courier New" panose="02070309020205020404" pitchFamily="49" charset="0"/>
              </a:rPr>
              <a:t>groupId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&lt;</a:t>
            </a:r>
            <a:r>
              <a:rPr lang="en-IN" dirty="0" err="1">
                <a:latin typeface="Courier New" panose="02070309020205020404" pitchFamily="49" charset="0"/>
              </a:rPr>
              <a:t>artifactId</a:t>
            </a:r>
            <a:r>
              <a:rPr lang="en-IN" dirty="0">
                <a:latin typeface="Courier New" panose="02070309020205020404" pitchFamily="49" charset="0"/>
              </a:rPr>
              <a:t>&gt;spring-boot-starter-actuator&lt;/</a:t>
            </a:r>
            <a:r>
              <a:rPr lang="en-IN" dirty="0" err="1">
                <a:latin typeface="Courier New" panose="02070309020205020404" pitchFamily="49" charset="0"/>
              </a:rPr>
              <a:t>artifactId</a:t>
            </a:r>
            <a:r>
              <a:rPr lang="en-IN" dirty="0">
                <a:latin typeface="Courier New" panose="02070309020205020404" pitchFamily="49" charset="0"/>
              </a:rPr>
              <a:t>&gt;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&lt;/dependency&gt;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 err="1"/>
              <a:t>Micrometer</a:t>
            </a:r>
            <a:r>
              <a:rPr lang="en-IN" b="1" dirty="0"/>
              <a:t> core is included automatically.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No additional dependency is required for basic metrics.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43034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69ABC-D558-0092-C67D-DEC8D2FAA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– Enable Metrics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FE1C-AC9B-24F6-115C-757FA95CE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028"/>
            <a:ext cx="10515600" cy="4730935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IN" dirty="0" err="1">
                <a:latin typeface="Courier New" panose="02070309020205020404" pitchFamily="49" charset="0"/>
              </a:rPr>
              <a:t>application.properties</a:t>
            </a:r>
            <a:endParaRPr lang="en-IN" dirty="0"/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management.endpoints.web.exposure.include</a:t>
            </a:r>
            <a:r>
              <a:rPr lang="en-IN" dirty="0">
                <a:latin typeface="Courier New" panose="02070309020205020404" pitchFamily="49" charset="0"/>
              </a:rPr>
              <a:t>=</a:t>
            </a:r>
            <a:r>
              <a:rPr lang="en-IN" dirty="0" err="1">
                <a:latin typeface="Courier New" panose="02070309020205020404" pitchFamily="49" charset="0"/>
              </a:rPr>
              <a:t>health,info,metrics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Run the application.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Open: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  <a:hlinkClick r:id="rId2"/>
              </a:rPr>
              <a:t>http://localhost:8080/actuator/metrics</a:t>
            </a: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/>
              <a:t>Example 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"names":[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jvm.memory.used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jvm.memory.max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http.server.requests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process.cpu.usage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"</a:t>
            </a:r>
            <a:r>
              <a:rPr lang="en-IN" dirty="0" err="1">
                <a:latin typeface="Courier New" panose="02070309020205020404" pitchFamily="49" charset="0"/>
              </a:rPr>
              <a:t>jdbc.connections.active</a:t>
            </a:r>
            <a:r>
              <a:rPr lang="en-IN" dirty="0">
                <a:latin typeface="Courier New" panose="02070309020205020404" pitchFamily="49" charset="0"/>
              </a:rPr>
              <a:t>"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1294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7C22-E410-8617-E377-C0C663D0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a Specific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05980-7176-C5A2-86A6-A0C0C5B7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644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b="1" dirty="0"/>
              <a:t>Open:</a:t>
            </a:r>
          </a:p>
          <a:p>
            <a:pPr rtl="0">
              <a:buNone/>
            </a:pPr>
            <a:r>
              <a:rPr lang="en-IN" b="1" dirty="0">
                <a:latin typeface="Courier New" panose="02070309020205020404" pitchFamily="49" charset="0"/>
              </a:rPr>
              <a:t>/actuator/metrics/</a:t>
            </a:r>
            <a:r>
              <a:rPr lang="en-IN" b="1" dirty="0" err="1">
                <a:latin typeface="Courier New" panose="02070309020205020404" pitchFamily="49" charset="0"/>
              </a:rPr>
              <a:t>jvm.memory.used</a:t>
            </a:r>
            <a:endParaRPr lang="en-IN" b="1" dirty="0">
              <a:latin typeface="Courier New" panose="02070309020205020404" pitchFamily="49" charset="0"/>
            </a:endParaRP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Response: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"name":"</a:t>
            </a:r>
            <a:r>
              <a:rPr lang="en-IN" dirty="0" err="1">
                <a:latin typeface="Courier New" panose="02070309020205020404" pitchFamily="49" charset="0"/>
              </a:rPr>
              <a:t>jvm.memory.used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"measurements":[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{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"</a:t>
            </a:r>
            <a:r>
              <a:rPr lang="en-IN" dirty="0" err="1">
                <a:latin typeface="Courier New" panose="02070309020205020404" pitchFamily="49" charset="0"/>
              </a:rPr>
              <a:t>statistic":"VALUE</a:t>
            </a:r>
            <a:r>
              <a:rPr lang="en-IN" dirty="0">
                <a:latin typeface="Courier New" panose="02070309020205020404" pitchFamily="49" charset="0"/>
              </a:rPr>
              <a:t>",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   "value":84533248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    }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>
                <a:solidFill>
                  <a:schemeClr val="accent3"/>
                </a:solidFill>
              </a:rPr>
              <a:t>This tells you how much JVM memory is currently in use.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9645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A845-28CD-3665-0E1B-5B2C8540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Employee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D5DCA-FF89-0A62-623F-D36263A22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833"/>
            <a:ext cx="10515600" cy="474529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@Service 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EmployeeService</a:t>
            </a:r>
            <a:r>
              <a:rPr lang="en-IN" dirty="0"/>
              <a:t> {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private final </a:t>
            </a:r>
            <a:r>
              <a:rPr lang="en-IN" dirty="0" err="1"/>
              <a:t>EmployeeRepository</a:t>
            </a:r>
            <a:r>
              <a:rPr lang="en-IN" dirty="0"/>
              <a:t> repository;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private final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;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private final Counter </a:t>
            </a:r>
            <a:r>
              <a:rPr lang="en-IN" dirty="0" err="1">
                <a:solidFill>
                  <a:schemeClr val="accent3"/>
                </a:solidFill>
              </a:rPr>
              <a:t>employeeCreatedCounter</a:t>
            </a:r>
            <a:r>
              <a:rPr lang="en-IN" dirty="0">
                <a:solidFill>
                  <a:schemeClr val="accent3"/>
                </a:solidFill>
              </a:rPr>
              <a:t>;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EmployeeService</a:t>
            </a:r>
            <a:r>
              <a:rPr lang="en-IN" dirty="0"/>
              <a:t>(</a:t>
            </a:r>
            <a:r>
              <a:rPr lang="en-IN" dirty="0" err="1"/>
              <a:t>EmployeeRepository</a:t>
            </a:r>
            <a:r>
              <a:rPr lang="en-IN" dirty="0"/>
              <a:t> repository,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 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this.repository</a:t>
            </a:r>
            <a:r>
              <a:rPr lang="en-IN" dirty="0"/>
              <a:t> = repository; </a:t>
            </a:r>
          </a:p>
          <a:p>
            <a:pPr marL="0" indent="0">
              <a:buNone/>
            </a:pPr>
            <a:r>
              <a:rPr lang="en-IN" dirty="0" err="1"/>
              <a:t>this.meterRegistry</a:t>
            </a:r>
            <a:r>
              <a:rPr lang="en-IN" dirty="0"/>
              <a:t> = </a:t>
            </a:r>
            <a:r>
              <a:rPr lang="en-IN" dirty="0" err="1"/>
              <a:t>meterRegistry</a:t>
            </a:r>
            <a:r>
              <a:rPr lang="en-IN" dirty="0"/>
              <a:t>; 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3"/>
                </a:solidFill>
              </a:rPr>
              <a:t>this.employeeCreatedCounter</a:t>
            </a:r>
            <a:r>
              <a:rPr lang="en-IN" dirty="0">
                <a:solidFill>
                  <a:schemeClr val="accent3"/>
                </a:solidFill>
              </a:rPr>
              <a:t> = </a:t>
            </a:r>
            <a:r>
              <a:rPr lang="en-IN" dirty="0" err="1">
                <a:solidFill>
                  <a:schemeClr val="accent3"/>
                </a:solidFill>
              </a:rPr>
              <a:t>Counter.builder</a:t>
            </a:r>
            <a:r>
              <a:rPr lang="en-IN" dirty="0">
                <a:solidFill>
                  <a:schemeClr val="accent3"/>
                </a:solidFill>
              </a:rPr>
              <a:t>("</a:t>
            </a:r>
            <a:r>
              <a:rPr lang="en-IN" dirty="0" err="1">
                <a:solidFill>
                  <a:schemeClr val="accent3"/>
                </a:solidFill>
              </a:rPr>
              <a:t>employee.created</a:t>
            </a:r>
            <a:r>
              <a:rPr lang="en-IN" dirty="0">
                <a:solidFill>
                  <a:schemeClr val="accent3"/>
                </a:solidFill>
              </a:rPr>
              <a:t>")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.description("Total Employees Created")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3"/>
                </a:solidFill>
              </a:rPr>
              <a:t>.register(</a:t>
            </a:r>
            <a:r>
              <a:rPr lang="en-IN" dirty="0" err="1">
                <a:solidFill>
                  <a:schemeClr val="accent3"/>
                </a:solidFill>
              </a:rPr>
              <a:t>meterRegistry</a:t>
            </a:r>
            <a:r>
              <a:rPr lang="en-IN" dirty="0">
                <a:solidFill>
                  <a:schemeClr val="accent3"/>
                </a:solidFill>
              </a:rPr>
              <a:t>);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091333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C016B-6FCB-2C0B-7DD7-BC535E9A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Increment the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09DD2-F01D-60C4-05D2-92EF9FAF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Employee </a:t>
            </a:r>
            <a:r>
              <a:rPr lang="en-IN" dirty="0" err="1"/>
              <a:t>saveEmployee</a:t>
            </a:r>
            <a:r>
              <a:rPr lang="en-IN" dirty="0"/>
              <a:t>(Employee employee) {</a:t>
            </a:r>
          </a:p>
          <a:p>
            <a:pPr marL="0" indent="0">
              <a:buNone/>
            </a:pPr>
            <a:r>
              <a:rPr lang="en-IN" dirty="0"/>
              <a:t> logger.info("Saving employee {}", </a:t>
            </a:r>
            <a:r>
              <a:rPr lang="en-IN" dirty="0" err="1"/>
              <a:t>employee.getEmpName</a:t>
            </a:r>
            <a:r>
              <a:rPr lang="en-IN" dirty="0"/>
              <a:t>()); Employee </a:t>
            </a:r>
            <a:r>
              <a:rPr lang="en-IN" dirty="0" err="1"/>
              <a:t>savedEmployee</a:t>
            </a:r>
            <a:r>
              <a:rPr lang="en-IN" dirty="0"/>
              <a:t> = </a:t>
            </a:r>
            <a:r>
              <a:rPr lang="en-IN" dirty="0" err="1"/>
              <a:t>repository.save</a:t>
            </a:r>
            <a:r>
              <a:rPr lang="en-IN" dirty="0"/>
              <a:t>(employee); </a:t>
            </a:r>
            <a:r>
              <a:rPr lang="en-IN" dirty="0" err="1">
                <a:solidFill>
                  <a:schemeClr val="accent3"/>
                </a:solidFill>
              </a:rPr>
              <a:t>employeeCreatedCounter.increment</a:t>
            </a:r>
            <a:r>
              <a:rPr lang="en-IN" dirty="0">
                <a:solidFill>
                  <a:schemeClr val="accent3"/>
                </a:solidFill>
              </a:rPr>
              <a:t>();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logger.info("Employee saved successfully"); </a:t>
            </a:r>
          </a:p>
          <a:p>
            <a:pPr marL="0" indent="0">
              <a:buNone/>
            </a:pPr>
            <a:r>
              <a:rPr lang="en-IN" dirty="0"/>
              <a:t>return </a:t>
            </a:r>
            <a:r>
              <a:rPr lang="en-IN" dirty="0" err="1"/>
              <a:t>savedEmployee</a:t>
            </a:r>
            <a:r>
              <a:rPr lang="en-IN" dirty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16312067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178A-5A69-22F6-9B39-F808ABF9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Viewing the Counter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56629-026F-36E8-801D-112AEE309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Open:</a:t>
            </a:r>
          </a:p>
          <a:p>
            <a:pPr rtl="0">
              <a:buNone/>
            </a:pPr>
            <a:r>
              <a:rPr lang="en-IN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http://localhost:8080/actuator/metrics/employee.created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81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Words>3467</Words>
  <Application>Microsoft Office PowerPoint</Application>
  <PresentationFormat>Widescreen</PresentationFormat>
  <Paragraphs>761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Aptos Display</vt:lpstr>
      <vt:lpstr>Arial</vt:lpstr>
      <vt:lpstr>Courier New</vt:lpstr>
      <vt:lpstr>Office Theme</vt:lpstr>
      <vt:lpstr>Spring Boot – Logging, Actuators, Health Check, Metrics</vt:lpstr>
      <vt:lpstr>Spring Boot Logging</vt:lpstr>
      <vt:lpstr>Why Logging?</vt:lpstr>
      <vt:lpstr>Spring Boot Logging Architecture</vt:lpstr>
      <vt:lpstr>Logging Framework Used</vt:lpstr>
      <vt:lpstr>What is a Log Level?</vt:lpstr>
      <vt:lpstr>Log level</vt:lpstr>
      <vt:lpstr>Logging Levels</vt:lpstr>
      <vt:lpstr>Logging Levels</vt:lpstr>
      <vt:lpstr>Logging Best Practices</vt:lpstr>
      <vt:lpstr>Logging Best Practices</vt:lpstr>
      <vt:lpstr>Logging Best Practices</vt:lpstr>
      <vt:lpstr>Configure Logging</vt:lpstr>
      <vt:lpstr>EmployeeService.java</vt:lpstr>
      <vt:lpstr>Advantages</vt:lpstr>
      <vt:lpstr>Steps to customize logging</vt:lpstr>
      <vt:lpstr>logback-spring.xml </vt:lpstr>
      <vt:lpstr>Step 2 – Add a File Appender</vt:lpstr>
      <vt:lpstr>Step 3 – Write to Both Console and File</vt:lpstr>
      <vt:lpstr>Step 4 – Rolling Log Files</vt:lpstr>
      <vt:lpstr>Step 5 – Package-Specific Log Levels</vt:lpstr>
      <vt:lpstr>Best Practices</vt:lpstr>
      <vt:lpstr>Spring Boot Actuator</vt:lpstr>
      <vt:lpstr>What is Spring Boot Actuator?</vt:lpstr>
      <vt:lpstr>Without Actuator </vt:lpstr>
      <vt:lpstr>With Actuator</vt:lpstr>
      <vt:lpstr>Why Use Actuator?</vt:lpstr>
      <vt:lpstr>Actuator Architecture</vt:lpstr>
      <vt:lpstr>Step 1 – Add Dependency</vt:lpstr>
      <vt:lpstr>Step 2 – Verify Dependency</vt:lpstr>
      <vt:lpstr>Step 3 – Default Endpoints</vt:lpstr>
      <vt:lpstr>Step 4 – Expose More Endpoints</vt:lpstr>
      <vt:lpstr>Production Configuration</vt:lpstr>
      <vt:lpstr>Step 5 – Change Base Path (Optional)</vt:lpstr>
      <vt:lpstr>Common Actuator Endpoints</vt:lpstr>
      <vt:lpstr>Endpoint 1 – /actuator/health</vt:lpstr>
      <vt:lpstr>Endpoint 2 – /actuator/info</vt:lpstr>
      <vt:lpstr>Endpoint 3 – /actuator/beans</vt:lpstr>
      <vt:lpstr>Endpoint 4 – /actuator/mappings</vt:lpstr>
      <vt:lpstr>Endpoint 5 – /actuator/env</vt:lpstr>
      <vt:lpstr>Endpoint 6 – /actuator/loggers</vt:lpstr>
      <vt:lpstr>Health Checks</vt:lpstr>
      <vt:lpstr>What is a Health Check?</vt:lpstr>
      <vt:lpstr>Why Health Checks Matter</vt:lpstr>
      <vt:lpstr>Default Health Check</vt:lpstr>
      <vt:lpstr>Enable Detailed Health Information</vt:lpstr>
      <vt:lpstr>Built-in Health Indicators</vt:lpstr>
      <vt:lpstr>Database Health Check</vt:lpstr>
      <vt:lpstr>Database Health Check</vt:lpstr>
      <vt:lpstr>Disk Space Health Check</vt:lpstr>
      <vt:lpstr>Custom Health Checks</vt:lpstr>
      <vt:lpstr>Creating a Custom Health Indicator</vt:lpstr>
      <vt:lpstr>Health Response</vt:lpstr>
      <vt:lpstr>Health Check Best Practices</vt:lpstr>
      <vt:lpstr>Metrics (Micrometer)</vt:lpstr>
      <vt:lpstr>What are Metrics?</vt:lpstr>
      <vt:lpstr>Why are Metrics Important?</vt:lpstr>
      <vt:lpstr>Monitoring Architecture</vt:lpstr>
      <vt:lpstr>Types of Metrics</vt:lpstr>
      <vt:lpstr>Built-in Metrics</vt:lpstr>
      <vt:lpstr>Step 1 – Dependency</vt:lpstr>
      <vt:lpstr>Step 2 – Enable Metrics Endpoint</vt:lpstr>
      <vt:lpstr>Viewing a Specific Metric</vt:lpstr>
      <vt:lpstr>Employee Implementation</vt:lpstr>
      <vt:lpstr>Increment the Counter</vt:lpstr>
      <vt:lpstr>Viewing the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Sujata Batra</dc:creator>
  <cp:lastModifiedBy>Sujata Batra</cp:lastModifiedBy>
  <cp:revision>71</cp:revision>
  <dcterms:created xsi:type="dcterms:W3CDTF">2026-07-07T15:10:09Z</dcterms:created>
  <dcterms:modified xsi:type="dcterms:W3CDTF">2026-07-08T13:43:13Z</dcterms:modified>
</cp:coreProperties>
</file>